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69" r:id="rId3"/>
    <p:sldId id="270" r:id="rId4"/>
    <p:sldId id="322" r:id="rId5"/>
    <p:sldId id="323" r:id="rId6"/>
    <p:sldId id="324" r:id="rId7"/>
    <p:sldId id="339" r:id="rId8"/>
    <p:sldId id="341" r:id="rId9"/>
    <p:sldId id="343" r:id="rId10"/>
    <p:sldId id="355" r:id="rId11"/>
    <p:sldId id="344" r:id="rId12"/>
    <p:sldId id="345" r:id="rId13"/>
    <p:sldId id="347" r:id="rId14"/>
    <p:sldId id="346" r:id="rId15"/>
    <p:sldId id="356" r:id="rId16"/>
    <p:sldId id="289" r:id="rId17"/>
  </p:sldIdLst>
  <p:sldSz cx="18288000" cy="10287000"/>
  <p:notesSz cx="6858000" cy="9144000"/>
  <p:embeddedFontLst>
    <p:embeddedFont>
      <p:font typeface="Arial Bold" panose="020B0704020202020204" pitchFamily="34" charset="0"/>
      <p:bold r:id="rId19"/>
    </p:embeddedFont>
    <p:embeddedFont>
      <p:font typeface="Arial Nova" panose="020B0504020202020204" pitchFamily="34" charset="0"/>
      <p:regular r:id="rId20"/>
      <p:bold r:id="rId21"/>
      <p:italic r:id="rId22"/>
      <p:boldItalic r:id="rId23"/>
    </p:embeddedFont>
    <p:embeddedFont>
      <p:font typeface="Arial Nova Bold" panose="020B0804020202020204" charset="0"/>
      <p:bold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682" autoAdjust="0"/>
    <p:restoredTop sz="94622" autoAdjust="0"/>
  </p:normalViewPr>
  <p:slideViewPr>
    <p:cSldViewPr showGuides="1">
      <p:cViewPr varScale="1">
        <p:scale>
          <a:sx n="70" d="100"/>
          <a:sy n="70" d="100"/>
        </p:scale>
        <p:origin x="42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16.05.2026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63244-EE4F-7EF0-5B17-9BBA7BD363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D8490EF-8ADB-C03B-EEC0-7E8589C6B31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E040C92-DD2D-B60A-D066-4999CF4F4E5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5A8932BD-B632-2147-A2D7-5AAF0021A92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8D2166B-7FB4-6146-6E6D-B14274A90DC2}"/>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a:extLst>
              <a:ext uri="{FF2B5EF4-FFF2-40B4-BE49-F238E27FC236}">
                <a16:creationId xmlns:a16="http://schemas.microsoft.com/office/drawing/2014/main" id="{4C959035-CDC1-3599-5AEE-45361F464A9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78C74862-8CDE-2B5D-4CD6-5BB94E497E6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45549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DF64D2-C1C1-A4BA-6D24-77D33ABC83E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44E5C05-3B65-F467-C2DC-8CE930319CE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881ADC7-5E90-131D-0C43-70BAA4D1EDA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83263FA-B0B5-4082-0D20-874D65A9E1F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44BE86A7-5D3B-1E8E-6FE0-C25D4DD67E6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a:extLst>
              <a:ext uri="{FF2B5EF4-FFF2-40B4-BE49-F238E27FC236}">
                <a16:creationId xmlns:a16="http://schemas.microsoft.com/office/drawing/2014/main" id="{1C01BFB9-2574-C683-5A5F-573A27C80C3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066FCE5-1FE2-1A2C-5B75-CD83737B0E0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579804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jp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8" name="TextBox 8"/>
          <p:cNvSpPr txBox="1"/>
          <p:nvPr/>
        </p:nvSpPr>
        <p:spPr>
          <a:xfrm>
            <a:off x="66490" y="4641983"/>
            <a:ext cx="7048247" cy="600805"/>
          </a:xfrm>
          <a:prstGeom prst="rect">
            <a:avLst/>
          </a:prstGeom>
        </p:spPr>
        <p:txBody>
          <a:bodyPr lIns="0" tIns="0" rIns="0" bIns="0" rtlCol="0" anchor="t">
            <a:spAutoFit/>
          </a:bodyPr>
          <a:lstStyle/>
          <a:p>
            <a:pPr algn="l">
              <a:lnSpc>
                <a:spcPts val="4970"/>
              </a:lnSpc>
            </a:pPr>
            <a:r>
              <a:rPr lang="en-US" sz="4140" b="1" dirty="0">
                <a:solidFill>
                  <a:srgbClr val="000000"/>
                </a:solidFill>
                <a:latin typeface="Arial Nova Bold" panose="020B0804020202020204"/>
                <a:ea typeface="Arial Nova Bold" panose="020B0804020202020204"/>
                <a:cs typeface="Arial Nova Bold" panose="020B0804020202020204"/>
                <a:sym typeface="Arial Nova Bold" panose="020B0804020202020204"/>
              </a:rPr>
              <a:t> </a:t>
            </a:r>
            <a:r>
              <a:rPr lang="en-US" sz="4140" b="1" dirty="0">
                <a:solidFill>
                  <a:srgbClr val="000000"/>
                </a:solidFill>
                <a:latin typeface="Arial Bold" panose="020B0704020202020204" pitchFamily="34" charset="0"/>
                <a:ea typeface="Arial Nova Bold" panose="020B0804020202020204"/>
                <a:cs typeface="Arial Bold" panose="020B0704020202020204" pitchFamily="34" charset="0"/>
                <a:sym typeface="Arial Nova Bold" panose="020B0804020202020204"/>
              </a:rPr>
              <a:t>Aberin, John Cedrick G. </a:t>
            </a:r>
          </a:p>
        </p:txBody>
      </p:sp>
      <p:grpSp>
        <p:nvGrpSpPr>
          <p:cNvPr id="9" name="Group 9"/>
          <p:cNvGrpSpPr/>
          <p:nvPr/>
        </p:nvGrpSpPr>
        <p:grpSpPr>
          <a:xfrm>
            <a:off x="2274484" y="3623491"/>
            <a:ext cx="2331720" cy="411480"/>
            <a:chOff x="0" y="0"/>
            <a:chExt cx="3108960" cy="548640"/>
          </a:xfrm>
        </p:grpSpPr>
        <p:sp>
          <p:nvSpPr>
            <p:cNvPr id="10" name="Freeform 10"/>
            <p:cNvSpPr/>
            <p:nvPr/>
          </p:nvSpPr>
          <p:spPr>
            <a:xfrm>
              <a:off x="0" y="0"/>
              <a:ext cx="3108960" cy="548640"/>
            </a:xfrm>
            <a:custGeom>
              <a:avLst/>
              <a:gdLst/>
              <a:ahLst/>
              <a:cxnLst/>
              <a:rect l="l" t="t" r="r" b="b"/>
              <a:pathLst>
                <a:path w="3108960" h="548640">
                  <a:moveTo>
                    <a:pt x="0" y="274320"/>
                  </a:moveTo>
                  <a:cubicBezTo>
                    <a:pt x="0" y="122809"/>
                    <a:pt x="122809" y="0"/>
                    <a:pt x="274320" y="0"/>
                  </a:cubicBezTo>
                  <a:lnTo>
                    <a:pt x="2834640" y="0"/>
                  </a:lnTo>
                  <a:cubicBezTo>
                    <a:pt x="2986151" y="0"/>
                    <a:pt x="3108960" y="122809"/>
                    <a:pt x="3108960" y="274320"/>
                  </a:cubicBezTo>
                  <a:cubicBezTo>
                    <a:pt x="3108960" y="425831"/>
                    <a:pt x="2986151" y="548640"/>
                    <a:pt x="283464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11" name="TextBox 11"/>
            <p:cNvSpPr txBox="1"/>
            <p:nvPr/>
          </p:nvSpPr>
          <p:spPr>
            <a:xfrm>
              <a:off x="0" y="-9525"/>
              <a:ext cx="310896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PROPONENTS</a:t>
              </a:r>
            </a:p>
          </p:txBody>
        </p:sp>
      </p:grpSp>
      <p:grpSp>
        <p:nvGrpSpPr>
          <p:cNvPr id="12" name="Group 12"/>
          <p:cNvGrpSpPr/>
          <p:nvPr/>
        </p:nvGrpSpPr>
        <p:grpSpPr>
          <a:xfrm>
            <a:off x="1137990" y="317592"/>
            <a:ext cx="1294181" cy="1299372"/>
            <a:chOff x="0" y="0"/>
            <a:chExt cx="1725574" cy="1732496"/>
          </a:xfrm>
        </p:grpSpPr>
        <p:sp>
          <p:nvSpPr>
            <p:cNvPr id="13" name="Freeform 13"/>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
              </a:stretch>
            </a:blipFill>
          </p:spPr>
        </p:sp>
      </p:grpSp>
      <p:grpSp>
        <p:nvGrpSpPr>
          <p:cNvPr id="14" name="Group 14"/>
          <p:cNvGrpSpPr/>
          <p:nvPr/>
        </p:nvGrpSpPr>
        <p:grpSpPr>
          <a:xfrm>
            <a:off x="2497941" y="297113"/>
            <a:ext cx="1319841" cy="1319841"/>
            <a:chOff x="0" y="0"/>
            <a:chExt cx="1759788" cy="1759788"/>
          </a:xfrm>
        </p:grpSpPr>
        <p:sp>
          <p:nvSpPr>
            <p:cNvPr id="15" name="Freeform 15"/>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6" name="TextBox 16"/>
          <p:cNvSpPr txBox="1"/>
          <p:nvPr/>
        </p:nvSpPr>
        <p:spPr>
          <a:xfrm>
            <a:off x="3974992" y="551774"/>
            <a:ext cx="8560422" cy="998963"/>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sp>
        <p:nvSpPr>
          <p:cNvPr id="17" name="AutoShape 17"/>
          <p:cNvSpPr/>
          <p:nvPr/>
        </p:nvSpPr>
        <p:spPr>
          <a:xfrm rot="69480">
            <a:off x="10340572" y="9253416"/>
            <a:ext cx="5656888" cy="0"/>
          </a:xfrm>
          <a:prstGeom prst="line">
            <a:avLst/>
          </a:prstGeom>
          <a:ln w="57150" cap="rnd">
            <a:solidFill>
              <a:srgbClr val="002060"/>
            </a:solidFill>
            <a:prstDash val="solid"/>
            <a:headEnd type="none" w="sm" len="sm"/>
            <a:tailEnd type="none" w="sm" len="sm"/>
          </a:ln>
        </p:spPr>
      </p:sp>
      <p:sp>
        <p:nvSpPr>
          <p:cNvPr id="18" name="AutoShape 18"/>
          <p:cNvSpPr/>
          <p:nvPr/>
        </p:nvSpPr>
        <p:spPr>
          <a:xfrm rot="17220">
            <a:off x="104660" y="5174530"/>
            <a:ext cx="8555145" cy="0"/>
          </a:xfrm>
          <a:prstGeom prst="line">
            <a:avLst/>
          </a:prstGeom>
          <a:ln w="19050" cap="rnd">
            <a:solidFill>
              <a:srgbClr val="F08E17"/>
            </a:solidFill>
            <a:prstDash val="solid"/>
            <a:headEnd type="none" w="sm" len="sm"/>
            <a:tailEnd type="none" w="sm" len="sm"/>
          </a:ln>
        </p:spPr>
        <p:txBody>
          <a:bodyPr/>
          <a:lstStyle/>
          <a:p>
            <a:endParaRPr lang="en-PH" dirty="0"/>
          </a:p>
        </p:txBody>
      </p:sp>
      <p:grpSp>
        <p:nvGrpSpPr>
          <p:cNvPr id="19" name="Group 19"/>
          <p:cNvGrpSpPr/>
          <p:nvPr/>
        </p:nvGrpSpPr>
        <p:grpSpPr>
          <a:xfrm>
            <a:off x="3926415" y="344900"/>
            <a:ext cx="8250345" cy="461667"/>
            <a:chOff x="0" y="0"/>
            <a:chExt cx="11000461" cy="615556"/>
          </a:xfrm>
        </p:grpSpPr>
        <p:sp>
          <p:nvSpPr>
            <p:cNvPr id="20" name="Freeform 20"/>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21" name="TextBox 21"/>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grpSp>
        <p:nvGrpSpPr>
          <p:cNvPr id="25" name="Group 25"/>
          <p:cNvGrpSpPr/>
          <p:nvPr/>
        </p:nvGrpSpPr>
        <p:grpSpPr>
          <a:xfrm>
            <a:off x="16289598" y="0"/>
            <a:ext cx="1994821" cy="1999031"/>
            <a:chOff x="0" y="0"/>
            <a:chExt cx="2659761" cy="2665374"/>
          </a:xfrm>
        </p:grpSpPr>
        <p:sp>
          <p:nvSpPr>
            <p:cNvPr id="26" name="Freeform 26"/>
            <p:cNvSpPr/>
            <p:nvPr/>
          </p:nvSpPr>
          <p:spPr>
            <a:xfrm>
              <a:off x="0" y="0"/>
              <a:ext cx="2659761" cy="2665349"/>
            </a:xfrm>
            <a:custGeom>
              <a:avLst/>
              <a:gdLst/>
              <a:ahLst/>
              <a:cxnLst/>
              <a:rect l="l" t="t" r="r" b="b"/>
              <a:pathLst>
                <a:path w="2659761" h="2665349">
                  <a:moveTo>
                    <a:pt x="0" y="0"/>
                  </a:moveTo>
                  <a:lnTo>
                    <a:pt x="2659761" y="0"/>
                  </a:lnTo>
                  <a:lnTo>
                    <a:pt x="2659761" y="2665349"/>
                  </a:lnTo>
                  <a:lnTo>
                    <a:pt x="0" y="2665349"/>
                  </a:lnTo>
                  <a:lnTo>
                    <a:pt x="0" y="0"/>
                  </a:lnTo>
                  <a:close/>
                </a:path>
              </a:pathLst>
            </a:custGeom>
            <a:blipFill>
              <a:blip r:embed="rId5"/>
              <a:stretch>
                <a:fillRect/>
              </a:stretch>
            </a:blipFill>
          </p:spPr>
        </p:sp>
      </p:grpSp>
      <p:sp>
        <p:nvSpPr>
          <p:cNvPr id="27" name="AutoShape 27"/>
          <p:cNvSpPr/>
          <p:nvPr/>
        </p:nvSpPr>
        <p:spPr>
          <a:xfrm rot="17220">
            <a:off x="104661" y="6383179"/>
            <a:ext cx="8555145" cy="0"/>
          </a:xfrm>
          <a:prstGeom prst="line">
            <a:avLst/>
          </a:prstGeom>
          <a:ln w="19050" cap="rnd">
            <a:solidFill>
              <a:srgbClr val="F08E17"/>
            </a:solidFill>
            <a:prstDash val="solid"/>
            <a:headEnd type="none" w="sm" len="sm"/>
            <a:tailEnd type="none" w="sm" len="sm"/>
          </a:ln>
        </p:spPr>
      </p:sp>
      <p:sp>
        <p:nvSpPr>
          <p:cNvPr id="28" name="AutoShape 28"/>
          <p:cNvSpPr/>
          <p:nvPr/>
        </p:nvSpPr>
        <p:spPr>
          <a:xfrm rot="17220">
            <a:off x="-21489" y="7520974"/>
            <a:ext cx="8555145" cy="0"/>
          </a:xfrm>
          <a:prstGeom prst="line">
            <a:avLst/>
          </a:prstGeom>
          <a:ln w="19050" cap="rnd">
            <a:solidFill>
              <a:srgbClr val="F08E17"/>
            </a:solidFill>
            <a:prstDash val="solid"/>
            <a:headEnd type="none" w="sm" len="sm"/>
            <a:tailEnd type="none" w="sm" len="sm"/>
          </a:ln>
        </p:spPr>
      </p:sp>
      <p:sp>
        <p:nvSpPr>
          <p:cNvPr id="29" name="AutoShape 29"/>
          <p:cNvSpPr/>
          <p:nvPr/>
        </p:nvSpPr>
        <p:spPr>
          <a:xfrm rot="17220">
            <a:off x="66437" y="8724814"/>
            <a:ext cx="8555145" cy="0"/>
          </a:xfrm>
          <a:prstGeom prst="line">
            <a:avLst/>
          </a:prstGeom>
          <a:ln w="19050" cap="rnd">
            <a:solidFill>
              <a:srgbClr val="F08E17"/>
            </a:solidFill>
            <a:prstDash val="solid"/>
            <a:headEnd type="none" w="sm" len="sm"/>
            <a:tailEnd type="none" w="sm" len="sm"/>
          </a:ln>
        </p:spPr>
      </p:sp>
      <p:sp>
        <p:nvSpPr>
          <p:cNvPr id="30" name="AutoShape 30"/>
          <p:cNvSpPr/>
          <p:nvPr/>
        </p:nvSpPr>
        <p:spPr>
          <a:xfrm rot="17220">
            <a:off x="114262" y="9755219"/>
            <a:ext cx="8555145" cy="0"/>
          </a:xfrm>
          <a:prstGeom prst="line">
            <a:avLst/>
          </a:prstGeom>
          <a:ln w="19050" cap="rnd">
            <a:solidFill>
              <a:srgbClr val="F08E17"/>
            </a:solidFill>
            <a:prstDash val="solid"/>
            <a:headEnd type="none" w="sm" len="sm"/>
            <a:tailEnd type="none" w="sm" len="sm"/>
          </a:ln>
        </p:spPr>
      </p:sp>
      <p:sp>
        <p:nvSpPr>
          <p:cNvPr id="46" name="TextBox 45"/>
          <p:cNvSpPr txBox="1"/>
          <p:nvPr/>
        </p:nvSpPr>
        <p:spPr>
          <a:xfrm>
            <a:off x="-21436" y="5703213"/>
            <a:ext cx="9329194" cy="689035"/>
          </a:xfrm>
          <a:prstGeom prst="rect">
            <a:avLst/>
          </a:prstGeom>
          <a:noFill/>
        </p:spPr>
        <p:txBody>
          <a:bodyPr wrap="square">
            <a:spAutoFit/>
          </a:bodyPr>
          <a:lstStyle/>
          <a:p>
            <a:pPr algn="l">
              <a:lnSpc>
                <a:spcPts val="4970"/>
              </a:lnSpc>
            </a:pPr>
            <a:r>
              <a:rPr lang="en-US" sz="4100" b="1" dirty="0">
                <a:solidFill>
                  <a:srgbClr val="000000"/>
                </a:solidFill>
                <a:latin typeface="Arial Bold" panose="020B0704020202020204" pitchFamily="34" charset="0"/>
                <a:ea typeface="Arial Nova Bold" panose="020B0804020202020204"/>
                <a:cs typeface="Arial Bold" panose="020B0704020202020204" pitchFamily="34" charset="0"/>
                <a:sym typeface="Arial Nova Bold" panose="020B0804020202020204"/>
              </a:rPr>
              <a:t>Martin, Edrick V</a:t>
            </a:r>
            <a:r>
              <a:rPr lang="en-US" sz="4100" b="1" dirty="0">
                <a:solidFill>
                  <a:srgbClr val="000000"/>
                </a:solidFill>
                <a:latin typeface="Arial Nova Bold" panose="020B0804020202020204"/>
                <a:ea typeface="Arial Nova Bold" panose="020B0804020202020204"/>
                <a:cs typeface="Arial Nova Bold" panose="020B0804020202020204"/>
                <a:sym typeface="Arial Nova Bold" panose="020B0804020202020204"/>
              </a:rPr>
              <a:t>.</a:t>
            </a:r>
          </a:p>
        </p:txBody>
      </p:sp>
      <p:sp>
        <p:nvSpPr>
          <p:cNvPr id="48" name="TextBox 47"/>
          <p:cNvSpPr txBox="1"/>
          <p:nvPr/>
        </p:nvSpPr>
        <p:spPr>
          <a:xfrm>
            <a:off x="-21436" y="6905878"/>
            <a:ext cx="9329194" cy="691921"/>
          </a:xfrm>
          <a:prstGeom prst="rect">
            <a:avLst/>
          </a:prstGeom>
          <a:noFill/>
        </p:spPr>
        <p:txBody>
          <a:bodyPr wrap="square">
            <a:spAutoFit/>
          </a:bodyPr>
          <a:lstStyle/>
          <a:p>
            <a:pPr algn="l">
              <a:lnSpc>
                <a:spcPts val="4970"/>
              </a:lnSpc>
            </a:pPr>
            <a:r>
              <a:rPr lang="en-US" sz="4100" b="1" dirty="0">
                <a:solidFill>
                  <a:srgbClr val="000000"/>
                </a:solidFill>
                <a:latin typeface="Arial Bold" panose="020B0704020202020204" pitchFamily="34" charset="0"/>
                <a:ea typeface="Arial Nova Bold" panose="020B0804020202020204"/>
                <a:cs typeface="Arial Bold" panose="020B0704020202020204" pitchFamily="34" charset="0"/>
                <a:sym typeface="Arial Nova Bold" panose="020B0804020202020204"/>
              </a:rPr>
              <a:t>Quijano Justine B</a:t>
            </a:r>
            <a:r>
              <a:rPr lang="en-US" sz="4100" b="1" dirty="0">
                <a:solidFill>
                  <a:srgbClr val="000000"/>
                </a:solidFill>
                <a:latin typeface="Arial Nova Bold" panose="020B0804020202020204"/>
                <a:ea typeface="Arial Nova Bold" panose="020B0804020202020204"/>
                <a:cs typeface="Arial Nova Bold" panose="020B0804020202020204"/>
                <a:sym typeface="Arial Nova Bold" panose="020B0804020202020204"/>
              </a:rPr>
              <a:t>.</a:t>
            </a:r>
          </a:p>
        </p:txBody>
      </p:sp>
      <p:pic>
        <p:nvPicPr>
          <p:cNvPr id="33" name="Picture 32">
            <a:extLst>
              <a:ext uri="{FF2B5EF4-FFF2-40B4-BE49-F238E27FC236}">
                <a16:creationId xmlns:a16="http://schemas.microsoft.com/office/drawing/2014/main" id="{7682B222-FE0D-DC7F-5647-918080D3CD2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287286" y="2652136"/>
            <a:ext cx="3361914" cy="4291109"/>
          </a:xfrm>
          <a:prstGeom prst="flowChartConnector">
            <a:avLst/>
          </a:prstGeom>
        </p:spPr>
      </p:pic>
      <p:pic>
        <p:nvPicPr>
          <p:cNvPr id="39" name="Picture 38">
            <a:extLst>
              <a:ext uri="{FF2B5EF4-FFF2-40B4-BE49-F238E27FC236}">
                <a16:creationId xmlns:a16="http://schemas.microsoft.com/office/drawing/2014/main" id="{26AB807E-5404-1C7C-070D-1BE913EA87F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2877800" y="3001609"/>
            <a:ext cx="3676783" cy="3881551"/>
          </a:xfrm>
          <a:prstGeom prst="flowChartConnector">
            <a:avLst/>
          </a:prstGeom>
        </p:spPr>
      </p:pic>
      <p:pic>
        <p:nvPicPr>
          <p:cNvPr id="43" name="Picture 42">
            <a:extLst>
              <a:ext uri="{FF2B5EF4-FFF2-40B4-BE49-F238E27FC236}">
                <a16:creationId xmlns:a16="http://schemas.microsoft.com/office/drawing/2014/main" id="{653D056C-E79E-5E20-BD85-D1B5A344F11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992127" y="5309892"/>
            <a:ext cx="3881551" cy="3881551"/>
          </a:xfrm>
          <a:prstGeom prst="flowChartConnector">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6" name="Group 6"/>
          <p:cNvGrpSpPr/>
          <p:nvPr/>
        </p:nvGrpSpPr>
        <p:grpSpPr>
          <a:xfrm>
            <a:off x="1137990" y="317592"/>
            <a:ext cx="1294181" cy="1299372"/>
            <a:chOff x="0" y="0"/>
            <a:chExt cx="1725574" cy="1732496"/>
          </a:xfrm>
        </p:grpSpPr>
        <p:sp>
          <p:nvSpPr>
            <p:cNvPr id="7" name="Freeform 7"/>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8" name="Group 8"/>
          <p:cNvGrpSpPr/>
          <p:nvPr/>
        </p:nvGrpSpPr>
        <p:grpSpPr>
          <a:xfrm>
            <a:off x="2497941" y="297113"/>
            <a:ext cx="1319841" cy="1319841"/>
            <a:chOff x="0" y="0"/>
            <a:chExt cx="1759788" cy="1759788"/>
          </a:xfrm>
        </p:grpSpPr>
        <p:sp>
          <p:nvSpPr>
            <p:cNvPr id="9" name="Freeform 9"/>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0" name="TextBox 10"/>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1" name="Group 11"/>
          <p:cNvGrpSpPr/>
          <p:nvPr/>
        </p:nvGrpSpPr>
        <p:grpSpPr>
          <a:xfrm>
            <a:off x="3926415" y="344900"/>
            <a:ext cx="8250345" cy="461667"/>
            <a:chOff x="0" y="0"/>
            <a:chExt cx="11000461" cy="615556"/>
          </a:xfrm>
        </p:grpSpPr>
        <p:sp>
          <p:nvSpPr>
            <p:cNvPr id="12" name="Freeform 12"/>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3" name="TextBox 13"/>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14" name="TextBox 14"/>
          <p:cNvSpPr txBox="1"/>
          <p:nvPr/>
        </p:nvSpPr>
        <p:spPr>
          <a:xfrm>
            <a:off x="1295400" y="3543300"/>
            <a:ext cx="15269789" cy="2577629"/>
          </a:xfrm>
          <a:prstGeom prst="rect">
            <a:avLst/>
          </a:prstGeom>
        </p:spPr>
        <p:txBody>
          <a:bodyPr lIns="0" tIns="0" rIns="0" bIns="0" rtlCol="0" anchor="t">
            <a:spAutoFit/>
          </a:bodyPr>
          <a:lstStyle/>
          <a:p>
            <a:pPr algn="ctr">
              <a:lnSpc>
                <a:spcPts val="6680"/>
              </a:lnSpc>
            </a:pPr>
            <a:r>
              <a:rPr lang="en-US" altLang="en-US" sz="6000" b="1" spc="27" dirty="0">
                <a:solidFill>
                  <a:schemeClr val="tx2"/>
                </a:solidFill>
                <a:ea typeface="Arial Nova Bold" panose="020B0804020202020204"/>
                <a:cs typeface="Arial Nova Bold" panose="020B0804020202020204"/>
                <a:sym typeface="Arial Nova Bold" panose="020B0804020202020204"/>
              </a:rPr>
              <a:t>“A </a:t>
            </a:r>
            <a:r>
              <a:rPr lang="en-US" altLang="en-US" sz="6000" b="1" spc="27" dirty="0" err="1">
                <a:solidFill>
                  <a:schemeClr val="tx2"/>
                </a:solidFill>
                <a:ea typeface="Arial Nova Bold" panose="020B0804020202020204"/>
                <a:cs typeface="Arial Nova Bold" panose="020B0804020202020204"/>
                <a:sym typeface="Arial Nova Bold" panose="020B0804020202020204"/>
              </a:rPr>
              <a:t>Cirruculum</a:t>
            </a:r>
            <a:r>
              <a:rPr lang="en-US" altLang="en-US" sz="6000" b="1" spc="27" dirty="0">
                <a:solidFill>
                  <a:schemeClr val="tx2"/>
                </a:solidFill>
                <a:ea typeface="Arial Nova Bold" panose="020B0804020202020204"/>
                <a:cs typeface="Arial Nova Bold" panose="020B0804020202020204"/>
                <a:sym typeface="Arial Nova Bold" panose="020B0804020202020204"/>
              </a:rPr>
              <a:t>-Aligned AI-Driven Learning Platform for Programming Instruction in Penaranda Senior High School”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63330" y="3390325"/>
            <a:ext cx="17175194" cy="6344920"/>
          </a:xfrm>
          <a:prstGeom prst="rect">
            <a:avLst/>
          </a:prstGeom>
        </p:spPr>
        <p:txBody>
          <a:bodyPr wrap="square" lIns="0" tIns="0" rIns="0" bIns="0" rtlCol="0" anchor="t">
            <a:noAutofit/>
          </a:bodyPr>
          <a:lstStyle/>
          <a:p>
            <a:pPr>
              <a:lnSpc>
                <a:spcPts val="6430"/>
              </a:lnSpc>
            </a:pPr>
            <a:r>
              <a:rPr lang="en-US" sz="4000" dirty="0">
                <a:latin typeface="Arial Nova" panose="020B0504020202020204" pitchFamily="34" charset="0"/>
              </a:rPr>
              <a:t>Artificial Intelligence (AI) is transforming education by providing personalized and interactive learning experiences. In programming education, many senior high school students struggle with complex concepts such as logic building, loops, and arrays, while teachers face challenges in giving individual support and monitoring student progress. Existing Learning Management Systems (LMS) mainly serve as storage platforms and lack features like real-time coding support, automated feedback, and intelligent tutoring</a:t>
            </a:r>
            <a:endParaRPr lang="en-US" altLang="en-US" sz="4000" spc="-150" dirty="0">
              <a:solidFill>
                <a:srgbClr val="000000"/>
              </a:solidFill>
              <a:latin typeface="Arial Nova" panose="020B0504020202020204" pitchFamily="34" charset="0"/>
              <a:ea typeface="Arial Nova" panose="020B0504020202020204"/>
              <a:cs typeface="Arial Bold" panose="020B0704020202020204" pitchFamily="34" charset="0"/>
              <a:sym typeface="Arial Nova" panose="020B0504020202020204"/>
            </a:endParaRPr>
          </a:p>
        </p:txBody>
      </p:sp>
      <p:grpSp>
        <p:nvGrpSpPr>
          <p:cNvPr id="7" name="Group 7"/>
          <p:cNvGrpSpPr/>
          <p:nvPr/>
        </p:nvGrpSpPr>
        <p:grpSpPr>
          <a:xfrm>
            <a:off x="394821" y="2577101"/>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a:solidFill>
                    <a:srgbClr val="FFFFFF"/>
                  </a:solidFill>
                  <a:latin typeface="Arial Bold" panose="020B0704020202020204"/>
                  <a:ea typeface="Arial Bold" panose="020B0704020202020204"/>
                  <a:cs typeface="Arial Bold" panose="020B0704020202020204"/>
                  <a:sym typeface="Arial Bold" panose="020B0704020202020204"/>
                </a:rPr>
                <a:t>Introduction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dirty="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18" name="Rectangle 1">
            <a:extLst>
              <a:ext uri="{FF2B5EF4-FFF2-40B4-BE49-F238E27FC236}">
                <a16:creationId xmlns:a16="http://schemas.microsoft.com/office/drawing/2014/main" id="{C8AFBB3B-F764-85E9-9B62-3BC7E99DD815}"/>
              </a:ext>
            </a:extLst>
          </p:cNvPr>
          <p:cNvSpPr>
            <a:spLocks noChangeArrowheads="1"/>
          </p:cNvSpPr>
          <p:nvPr/>
        </p:nvSpPr>
        <p:spPr bwMode="auto">
          <a:xfrm>
            <a:off x="6927" y="13208"/>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TextBox 6"/>
          <p:cNvSpPr txBox="1"/>
          <p:nvPr/>
        </p:nvSpPr>
        <p:spPr>
          <a:xfrm>
            <a:off x="564309" y="3399732"/>
            <a:ext cx="17175194" cy="6344920"/>
          </a:xfrm>
          <a:prstGeom prst="rect">
            <a:avLst/>
          </a:prstGeom>
        </p:spPr>
        <p:txBody>
          <a:bodyPr wrap="square" lIns="0" tIns="0" rIns="0" bIns="0" rtlCol="0" anchor="t">
            <a:noAutofit/>
          </a:bodyPr>
          <a:lstStyle/>
          <a:p>
            <a:pPr>
              <a:lnSpc>
                <a:spcPts val="6430"/>
              </a:lnSpc>
            </a:pPr>
            <a:r>
              <a:rPr lang="en-US" sz="4000" dirty="0"/>
              <a:t>To address these issues, this study proposes a curriculum-aligned AI-driven learning platform designed for programming instruction. The system integrates AI-powered tutoring, a built-in code editor, automated quiz generation, and performance analytics to provide students with real-time guidance and personalized learning support. At the same time, it helps teachers deliver instruction more efficiently and monitor student performance effectively. Overall, the study aims to improve programming education through a practical and interactive AI-based learning solution.</a:t>
            </a:r>
            <a:endParaRPr lang="en-US" altLang="en-US" sz="3600" spc="-150" dirty="0">
              <a:solidFill>
                <a:srgbClr val="000000"/>
              </a:solidFill>
              <a:latin typeface="Arial Nova" panose="020B0504020202020204"/>
              <a:ea typeface="Arial Nova" panose="020B0504020202020204"/>
              <a:cs typeface="Arial Nova" panose="020B0504020202020204"/>
              <a:sym typeface="Arial Nova" panose="020B0504020202020204"/>
            </a:endParaRPr>
          </a:p>
        </p:txBody>
      </p:sp>
      <p:grpSp>
        <p:nvGrpSpPr>
          <p:cNvPr id="7" name="Group 7"/>
          <p:cNvGrpSpPr/>
          <p:nvPr/>
        </p:nvGrpSpPr>
        <p:grpSpPr>
          <a:xfrm>
            <a:off x="394821" y="2577101"/>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a:solidFill>
                    <a:srgbClr val="FFFFFF"/>
                  </a:solidFill>
                  <a:latin typeface="Arial Bold" panose="020B0704020202020204"/>
                  <a:ea typeface="Arial Bold" panose="020B0704020202020204"/>
                  <a:cs typeface="Arial Bold" panose="020B0704020202020204"/>
                  <a:sym typeface="Arial Bold" panose="020B0704020202020204"/>
                </a:rPr>
                <a:t>Introduction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329032" y="2540099"/>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Company Background</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pic>
        <p:nvPicPr>
          <p:cNvPr id="21" name="Picture 20">
            <a:extLst>
              <a:ext uri="{FF2B5EF4-FFF2-40B4-BE49-F238E27FC236}">
                <a16:creationId xmlns:a16="http://schemas.microsoft.com/office/drawing/2014/main" id="{CDD799B7-0E77-33D2-ACAB-1939BFCB5C3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19400" y="3065686"/>
            <a:ext cx="12401750" cy="697969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General Problem</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1066800" y="3390900"/>
            <a:ext cx="15885795" cy="4387215"/>
          </a:xfrm>
          <a:prstGeom prst="rect">
            <a:avLst/>
          </a:prstGeom>
          <a:noFill/>
        </p:spPr>
        <p:txBody>
          <a:bodyPr wrap="square">
            <a:noAutofit/>
          </a:bodyPr>
          <a:lstStyle/>
          <a:p>
            <a:r>
              <a:rPr lang="en-US" sz="4000" dirty="0"/>
              <a:t>How will the proponents design, develop, and implement A Curriculum-Aligned AI-Driven Learning Platform for Programming Instruction using the Agile software development approach to address the challenges faced in programming education, improve the delivery of programming lessons, provide real-time academic support and automated feedback, and enhance students’ learning experience through an integrated and curriculum-aligned coding platform?</a:t>
            </a:r>
            <a:endParaRPr lang="en-US" altLang="en-US" sz="4000" dirty="0">
              <a:latin typeface="Arial Nova" panose="020B05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Specific Problem</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990600" y="3825935"/>
            <a:ext cx="15773400" cy="5170646"/>
          </a:xfrm>
          <a:prstGeom prst="rect">
            <a:avLst/>
          </a:prstGeom>
          <a:noFill/>
        </p:spPr>
        <p:txBody>
          <a:bodyPr wrap="square">
            <a:spAutoFit/>
          </a:bodyPr>
          <a:lstStyle/>
          <a:p>
            <a:r>
              <a:rPr lang="en-US" sz="6600" dirty="0"/>
              <a:t>How can the proponents design and develop a curriculum-aligned AI-driven learning platform that will provide an integrated coding environment for Grade 12 ICT students at Peñaranda Senior High School?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Specific Problem</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990600" y="3825935"/>
            <a:ext cx="15773400" cy="4708981"/>
          </a:xfrm>
          <a:prstGeom prst="rect">
            <a:avLst/>
          </a:prstGeom>
          <a:noFill/>
        </p:spPr>
        <p:txBody>
          <a:bodyPr wrap="square">
            <a:spAutoFit/>
          </a:bodyPr>
          <a:lstStyle/>
          <a:p>
            <a:r>
              <a:rPr lang="en-US" sz="6000" dirty="0"/>
              <a:t>How can the proponents develop a system that will provide real-time academic support, guided assistance, and automated feedback to help students better understand programming concepts and improve their coding skills?</a:t>
            </a:r>
            <a:endParaRPr lang="en-US" altLang="en-US" sz="6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Specific Problem</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990600" y="3825935"/>
            <a:ext cx="15773400" cy="4708981"/>
          </a:xfrm>
          <a:prstGeom prst="rect">
            <a:avLst/>
          </a:prstGeom>
          <a:noFill/>
        </p:spPr>
        <p:txBody>
          <a:bodyPr wrap="square">
            <a:spAutoFit/>
          </a:bodyPr>
          <a:lstStyle/>
          <a:p>
            <a:r>
              <a:rPr lang="en-US" sz="6000" dirty="0"/>
              <a:t>How can the proponents implement a centralized learning platform that will allow teachers to manage lessons, generate quizzes, monitor student performance, and deliver programming instruction more effectively?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2C13675E-6CC2-AA60-6011-3D7D84F0043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8F49C1B-0080-B54B-7FD9-4F0924B7405E}"/>
              </a:ext>
            </a:extLst>
          </p:cNvPr>
          <p:cNvGrpSpPr/>
          <p:nvPr/>
        </p:nvGrpSpPr>
        <p:grpSpPr>
          <a:xfrm>
            <a:off x="0" y="241621"/>
            <a:ext cx="18303850" cy="1988344"/>
            <a:chOff x="0" y="0"/>
            <a:chExt cx="24405133" cy="2651125"/>
          </a:xfrm>
        </p:grpSpPr>
        <p:sp>
          <p:nvSpPr>
            <p:cNvPr id="3" name="Freeform 3">
              <a:extLst>
                <a:ext uri="{FF2B5EF4-FFF2-40B4-BE49-F238E27FC236}">
                  <a16:creationId xmlns:a16="http://schemas.microsoft.com/office/drawing/2014/main" id="{4256FC3D-F2E0-7B62-3D2A-AF85F30F5005}"/>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a:extLst>
              <a:ext uri="{FF2B5EF4-FFF2-40B4-BE49-F238E27FC236}">
                <a16:creationId xmlns:a16="http://schemas.microsoft.com/office/drawing/2014/main" id="{EB352D27-6041-F284-6522-65B2C2F4A07D}"/>
              </a:ext>
            </a:extLst>
          </p:cNvPr>
          <p:cNvGrpSpPr/>
          <p:nvPr/>
        </p:nvGrpSpPr>
        <p:grpSpPr>
          <a:xfrm>
            <a:off x="0" y="0"/>
            <a:ext cx="18303850" cy="1988344"/>
            <a:chOff x="0" y="0"/>
            <a:chExt cx="24405133" cy="2651125"/>
          </a:xfrm>
        </p:grpSpPr>
        <p:sp>
          <p:nvSpPr>
            <p:cNvPr id="5" name="Freeform 5">
              <a:extLst>
                <a:ext uri="{FF2B5EF4-FFF2-40B4-BE49-F238E27FC236}">
                  <a16:creationId xmlns:a16="http://schemas.microsoft.com/office/drawing/2014/main" id="{653E9099-4906-1FE1-0A9E-F2CD5D85B252}"/>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a:extLst>
              <a:ext uri="{FF2B5EF4-FFF2-40B4-BE49-F238E27FC236}">
                <a16:creationId xmlns:a16="http://schemas.microsoft.com/office/drawing/2014/main" id="{9F4E19C1-7562-F81A-B806-7F3E9DAB1FC1}"/>
              </a:ext>
            </a:extLst>
          </p:cNvPr>
          <p:cNvGrpSpPr/>
          <p:nvPr/>
        </p:nvGrpSpPr>
        <p:grpSpPr>
          <a:xfrm>
            <a:off x="465772" y="2868930"/>
            <a:ext cx="4206240" cy="411480"/>
            <a:chOff x="0" y="0"/>
            <a:chExt cx="5608320" cy="548640"/>
          </a:xfrm>
        </p:grpSpPr>
        <p:sp>
          <p:nvSpPr>
            <p:cNvPr id="8" name="Freeform 8">
              <a:extLst>
                <a:ext uri="{FF2B5EF4-FFF2-40B4-BE49-F238E27FC236}">
                  <a16:creationId xmlns:a16="http://schemas.microsoft.com/office/drawing/2014/main" id="{F30DD847-F404-F3FB-ACBF-7A7C39689A42}"/>
                </a:ext>
              </a:extLst>
            </p:cNvPr>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a:extLst>
                <a:ext uri="{FF2B5EF4-FFF2-40B4-BE49-F238E27FC236}">
                  <a16:creationId xmlns:a16="http://schemas.microsoft.com/office/drawing/2014/main" id="{805E2069-3293-6251-D084-AB8624CD7F30}"/>
                </a:ext>
              </a:extLst>
            </p:cNvPr>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Specific Problem</a:t>
              </a:r>
            </a:p>
          </p:txBody>
        </p:sp>
      </p:grpSp>
      <p:grpSp>
        <p:nvGrpSpPr>
          <p:cNvPr id="10" name="Group 10">
            <a:extLst>
              <a:ext uri="{FF2B5EF4-FFF2-40B4-BE49-F238E27FC236}">
                <a16:creationId xmlns:a16="http://schemas.microsoft.com/office/drawing/2014/main" id="{41555169-CAEF-3172-A232-2D30AB17775E}"/>
              </a:ext>
            </a:extLst>
          </p:cNvPr>
          <p:cNvGrpSpPr/>
          <p:nvPr/>
        </p:nvGrpSpPr>
        <p:grpSpPr>
          <a:xfrm>
            <a:off x="1137990" y="317592"/>
            <a:ext cx="1294181" cy="1299372"/>
            <a:chOff x="0" y="0"/>
            <a:chExt cx="1725574" cy="1732496"/>
          </a:xfrm>
        </p:grpSpPr>
        <p:sp>
          <p:nvSpPr>
            <p:cNvPr id="11" name="Freeform 11">
              <a:extLst>
                <a:ext uri="{FF2B5EF4-FFF2-40B4-BE49-F238E27FC236}">
                  <a16:creationId xmlns:a16="http://schemas.microsoft.com/office/drawing/2014/main" id="{E0D20D6A-0120-AAAD-087A-AE0B2049FE83}"/>
                </a:ext>
              </a:extLst>
            </p:cNvPr>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a:extLst>
              <a:ext uri="{FF2B5EF4-FFF2-40B4-BE49-F238E27FC236}">
                <a16:creationId xmlns:a16="http://schemas.microsoft.com/office/drawing/2014/main" id="{F9F36965-17E8-B929-84A3-A36E2E20440E}"/>
              </a:ext>
            </a:extLst>
          </p:cNvPr>
          <p:cNvGrpSpPr/>
          <p:nvPr/>
        </p:nvGrpSpPr>
        <p:grpSpPr>
          <a:xfrm>
            <a:off x="2497941" y="297113"/>
            <a:ext cx="1319841" cy="1319841"/>
            <a:chOff x="0" y="0"/>
            <a:chExt cx="1759788" cy="1759788"/>
          </a:xfrm>
        </p:grpSpPr>
        <p:sp>
          <p:nvSpPr>
            <p:cNvPr id="13" name="Freeform 13">
              <a:extLst>
                <a:ext uri="{FF2B5EF4-FFF2-40B4-BE49-F238E27FC236}">
                  <a16:creationId xmlns:a16="http://schemas.microsoft.com/office/drawing/2014/main" id="{22D6CF38-B466-4ACE-386F-265582428FB8}"/>
                </a:ext>
              </a:extLst>
            </p:cNvPr>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a:extLst>
              <a:ext uri="{FF2B5EF4-FFF2-40B4-BE49-F238E27FC236}">
                <a16:creationId xmlns:a16="http://schemas.microsoft.com/office/drawing/2014/main" id="{D7292753-0372-44CA-31B6-D3B0046AEC38}"/>
              </a:ext>
            </a:extLst>
          </p:cNvPr>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a:extLst>
              <a:ext uri="{FF2B5EF4-FFF2-40B4-BE49-F238E27FC236}">
                <a16:creationId xmlns:a16="http://schemas.microsoft.com/office/drawing/2014/main" id="{693ADDC2-58AA-FC2D-AC63-CC719F3C7EDC}"/>
              </a:ext>
            </a:extLst>
          </p:cNvPr>
          <p:cNvGrpSpPr/>
          <p:nvPr/>
        </p:nvGrpSpPr>
        <p:grpSpPr>
          <a:xfrm>
            <a:off x="3926415" y="344900"/>
            <a:ext cx="8250345" cy="461667"/>
            <a:chOff x="0" y="0"/>
            <a:chExt cx="11000461" cy="615556"/>
          </a:xfrm>
        </p:grpSpPr>
        <p:sp>
          <p:nvSpPr>
            <p:cNvPr id="16" name="Freeform 16">
              <a:extLst>
                <a:ext uri="{FF2B5EF4-FFF2-40B4-BE49-F238E27FC236}">
                  <a16:creationId xmlns:a16="http://schemas.microsoft.com/office/drawing/2014/main" id="{3B0F4BD6-A5F1-1998-E1BA-B3511EC91358}"/>
                </a:ext>
              </a:extLst>
            </p:cNvPr>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a:extLst>
                <a:ext uri="{FF2B5EF4-FFF2-40B4-BE49-F238E27FC236}">
                  <a16:creationId xmlns:a16="http://schemas.microsoft.com/office/drawing/2014/main" id="{0D0E24EB-82D8-9996-7D66-9B29654AD406}"/>
                </a:ext>
              </a:extLst>
            </p:cNvPr>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a:extLst>
              <a:ext uri="{FF2B5EF4-FFF2-40B4-BE49-F238E27FC236}">
                <a16:creationId xmlns:a16="http://schemas.microsoft.com/office/drawing/2014/main" id="{F3A8E1D2-F0B7-4DF6-E0C3-05EA25FBD0E4}"/>
              </a:ext>
            </a:extLst>
          </p:cNvPr>
          <p:cNvSpPr txBox="1"/>
          <p:nvPr/>
        </p:nvSpPr>
        <p:spPr>
          <a:xfrm>
            <a:off x="990600" y="3825935"/>
            <a:ext cx="15773400" cy="5632311"/>
          </a:xfrm>
          <a:prstGeom prst="rect">
            <a:avLst/>
          </a:prstGeom>
          <a:noFill/>
        </p:spPr>
        <p:txBody>
          <a:bodyPr wrap="square">
            <a:spAutoFit/>
          </a:bodyPr>
          <a:lstStyle/>
          <a:p>
            <a:r>
              <a:rPr lang="en-US" sz="6000" dirty="0"/>
              <a:t>How can the proponents evaluate the developed system in terms of functional suitability, performance efficiency, usability, reliability, maintainability, security, portability, and compatibility to ensure the quality and effectiveness of the platform? </a:t>
            </a:r>
          </a:p>
        </p:txBody>
      </p:sp>
    </p:spTree>
    <p:extLst>
      <p:ext uri="{BB962C8B-B14F-4D97-AF65-F5344CB8AC3E}">
        <p14:creationId xmlns:p14="http://schemas.microsoft.com/office/powerpoint/2010/main" val="4081792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General Objectives</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990600" y="3825935"/>
            <a:ext cx="15773400" cy="5016758"/>
          </a:xfrm>
          <a:prstGeom prst="rect">
            <a:avLst/>
          </a:prstGeom>
          <a:noFill/>
        </p:spPr>
        <p:txBody>
          <a:bodyPr wrap="square">
            <a:spAutoFit/>
          </a:bodyPr>
          <a:lstStyle/>
          <a:p>
            <a:r>
              <a:rPr lang="en-US" sz="4000" dirty="0"/>
              <a:t>The main objective of A Curriculum-Aligned AI-Driven Learning Platform for Programming Instruction is to design and develop a centralized AI-driven learning platform that will improve the delivery of programming education for Grade 12 ICT students at Peñaranda Senior High School. This study aims to create a platform that will provide an integrated coding environment, real-time academic support, and curriculum-aligned learning resources to make programming instruction more interactive, efficient, accurate, and accessible for both students and teachers.</a:t>
            </a:r>
            <a:endParaRPr lang="en-US" altLang="en-US" sz="4000" dirty="0">
              <a:latin typeface="Arial Nova" panose="020B05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Specific Objectives</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990600" y="3825935"/>
            <a:ext cx="15773400" cy="7294305"/>
          </a:xfrm>
          <a:prstGeom prst="rect">
            <a:avLst/>
          </a:prstGeom>
          <a:noFill/>
        </p:spPr>
        <p:txBody>
          <a:bodyPr wrap="square">
            <a:spAutoFit/>
          </a:bodyPr>
          <a:lstStyle/>
          <a:p>
            <a:r>
              <a:rPr lang="en-US" sz="3600" dirty="0"/>
              <a:t>• To develop a curriculum-aligned AI-driven learning platform that allows Grade 12 ICT students to write, compile, run, and submit Java programs within an integrated web-based code execution.</a:t>
            </a:r>
          </a:p>
          <a:p>
            <a:endParaRPr lang="en-US" sz="3600" dirty="0"/>
          </a:p>
          <a:p>
            <a:r>
              <a:rPr lang="en-US" sz="3600" dirty="0"/>
              <a:t>• To provide an AI-powered tutoring feature that can deliver real-time academic support, guided assistance, and automated feedback to help students improve their programming skills and problem-solving abilities.</a:t>
            </a:r>
          </a:p>
          <a:p>
            <a:endParaRPr lang="en-US" sz="3600" dirty="0"/>
          </a:p>
          <a:p>
            <a:r>
              <a:rPr lang="en-US" sz="3600" dirty="0"/>
              <a:t>• To create a centralized learning management module that allows teachers to upload curriculum-based materials, generate quizzes and lessons, monitor student progress, and manage programming courses effectively.</a:t>
            </a:r>
          </a:p>
          <a:p>
            <a:endParaRPr lang="en-US" sz="3600" dirty="0"/>
          </a:p>
          <a:p>
            <a:endParaRPr lang="en-US" sz="3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Scope and Limitation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1137990" y="3331799"/>
            <a:ext cx="15773400" cy="6740307"/>
          </a:xfrm>
          <a:prstGeom prst="rect">
            <a:avLst/>
          </a:prstGeom>
          <a:noFill/>
        </p:spPr>
        <p:txBody>
          <a:bodyPr wrap="square">
            <a:spAutoFit/>
          </a:bodyPr>
          <a:lstStyle/>
          <a:p>
            <a:r>
              <a:rPr lang="en-US" sz="3600" b="1" dirty="0"/>
              <a:t>Teacher Module</a:t>
            </a:r>
            <a:endParaRPr lang="en-US" sz="3600" dirty="0"/>
          </a:p>
          <a:p>
            <a:pPr marL="571500" indent="-571500">
              <a:buFont typeface="Arial" panose="020B0604020202020204" pitchFamily="34" charset="0"/>
              <a:buChar char="•"/>
            </a:pPr>
            <a:r>
              <a:rPr lang="en-US" sz="3600" dirty="0"/>
              <a:t>Enables teachers to create and manage classes</a:t>
            </a:r>
          </a:p>
          <a:p>
            <a:pPr marL="571500" indent="-571500">
              <a:buFont typeface="Arial" panose="020B0604020202020204" pitchFamily="34" charset="0"/>
              <a:buChar char="•"/>
            </a:pPr>
            <a:r>
              <a:rPr lang="en-US" sz="3600" dirty="0"/>
              <a:t>Allows building of structured courses composed of modules, lessons, and assessments</a:t>
            </a:r>
          </a:p>
          <a:p>
            <a:pPr marL="571500" indent="-571500">
              <a:buFont typeface="Arial" panose="020B0604020202020204" pitchFamily="34" charset="0"/>
              <a:buChar char="•"/>
            </a:pPr>
            <a:r>
              <a:rPr lang="en-US" sz="3600" dirty="0"/>
              <a:t>Supports uploading of curriculum documents (Daily Lesson Logs, learning guides) as knowledge base for AI features</a:t>
            </a:r>
          </a:p>
          <a:p>
            <a:pPr marL="571500" indent="-571500">
              <a:buFont typeface="Arial" panose="020B0604020202020204" pitchFamily="34" charset="0"/>
              <a:buChar char="•"/>
            </a:pPr>
            <a:r>
              <a:rPr lang="en-US" sz="3600" dirty="0"/>
              <a:t>Provides tools for managing student progress within courses</a:t>
            </a:r>
          </a:p>
          <a:p>
            <a:r>
              <a:rPr lang="en-US" sz="3600" b="1" dirty="0"/>
              <a:t>Student Learning Module</a:t>
            </a:r>
            <a:endParaRPr lang="en-US" sz="3600" dirty="0"/>
          </a:p>
          <a:p>
            <a:pPr marL="571500" indent="-571500">
              <a:buFont typeface="Arial" panose="020B0604020202020204" pitchFamily="34" charset="0"/>
              <a:buChar char="•"/>
            </a:pPr>
            <a:r>
              <a:rPr lang="en-US" sz="3600" dirty="0"/>
              <a:t>Delivers structured, sequential learning experience for programming instruction</a:t>
            </a:r>
          </a:p>
          <a:p>
            <a:pPr marL="571500" indent="-571500">
              <a:buFont typeface="Arial" panose="020B0604020202020204" pitchFamily="34" charset="0"/>
              <a:buChar char="•"/>
            </a:pPr>
            <a:r>
              <a:rPr lang="en-US" sz="3600" dirty="0"/>
              <a:t>Includes a built-in Java code editor for hands-on programming practice</a:t>
            </a:r>
          </a:p>
          <a:p>
            <a:pPr marL="571500" indent="-571500">
              <a:buFont typeface="Arial" panose="020B0604020202020204" pitchFamily="34" charset="0"/>
              <a:buChar char="•"/>
            </a:pPr>
            <a:r>
              <a:rPr lang="en-US" sz="3600" dirty="0"/>
              <a:t>Provides automated assessments for programming exercises</a:t>
            </a:r>
          </a:p>
          <a:p>
            <a:pPr marL="571500" indent="-571500">
              <a:buFont typeface="Arial" panose="020B0604020202020204" pitchFamily="34" charset="0"/>
              <a:buChar char="•"/>
            </a:pPr>
            <a:r>
              <a:rPr lang="en-US" sz="3600" dirty="0"/>
              <a:t>Allows students to view modules, lessons, and assessment results</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p:cNvGrpSpPr/>
          <p:nvPr/>
        </p:nvGrpSpPr>
        <p:grpSpPr>
          <a:xfrm>
            <a:off x="465772" y="2868930"/>
            <a:ext cx="4206240" cy="411480"/>
            <a:chOff x="0" y="0"/>
            <a:chExt cx="5608320" cy="548640"/>
          </a:xfrm>
        </p:grpSpPr>
        <p:sp>
          <p:nvSpPr>
            <p:cNvPr id="8" name="Freeform 8"/>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Scope and Limitation</a:t>
              </a:r>
            </a:p>
          </p:txBody>
        </p:sp>
      </p:grpSp>
      <p:grpSp>
        <p:nvGrpSpPr>
          <p:cNvPr id="10" name="Group 10"/>
          <p:cNvGrpSpPr/>
          <p:nvPr/>
        </p:nvGrpSpPr>
        <p:grpSpPr>
          <a:xfrm>
            <a:off x="1137990" y="317592"/>
            <a:ext cx="1294181" cy="1299372"/>
            <a:chOff x="0" y="0"/>
            <a:chExt cx="1725574" cy="1732496"/>
          </a:xfrm>
        </p:grpSpPr>
        <p:sp>
          <p:nvSpPr>
            <p:cNvPr id="11" name="Freeform 11"/>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p:cNvGrpSpPr/>
          <p:nvPr/>
        </p:nvGrpSpPr>
        <p:grpSpPr>
          <a:xfrm>
            <a:off x="2497941" y="297113"/>
            <a:ext cx="1319841" cy="1319841"/>
            <a:chOff x="0" y="0"/>
            <a:chExt cx="1759788" cy="1759788"/>
          </a:xfrm>
        </p:grpSpPr>
        <p:sp>
          <p:nvSpPr>
            <p:cNvPr id="13" name="Freeform 13"/>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p:cNvGrpSpPr/>
          <p:nvPr/>
        </p:nvGrpSpPr>
        <p:grpSpPr>
          <a:xfrm>
            <a:off x="3926415" y="344900"/>
            <a:ext cx="8250345" cy="461667"/>
            <a:chOff x="0" y="0"/>
            <a:chExt cx="11000461" cy="615556"/>
          </a:xfrm>
        </p:grpSpPr>
        <p:sp>
          <p:nvSpPr>
            <p:cNvPr id="16" name="Freeform 16"/>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p:cNvSpPr txBox="1"/>
          <p:nvPr/>
        </p:nvSpPr>
        <p:spPr>
          <a:xfrm>
            <a:off x="990600" y="3510868"/>
            <a:ext cx="15773400" cy="5016758"/>
          </a:xfrm>
          <a:prstGeom prst="rect">
            <a:avLst/>
          </a:prstGeom>
          <a:noFill/>
        </p:spPr>
        <p:txBody>
          <a:bodyPr wrap="square">
            <a:spAutoFit/>
          </a:bodyPr>
          <a:lstStyle/>
          <a:p>
            <a:r>
              <a:rPr lang="en-US" sz="3200" b="1" dirty="0"/>
              <a:t>AI Tutor Module (Curriculum-Aligned)</a:t>
            </a:r>
            <a:endParaRPr lang="en-US" sz="3200" dirty="0"/>
          </a:p>
          <a:p>
            <a:pPr marL="571500" indent="-571500">
              <a:buFont typeface="Arial" panose="020B0604020202020204" pitchFamily="34" charset="0"/>
              <a:buChar char="•"/>
            </a:pPr>
            <a:r>
              <a:rPr lang="en-US" sz="3200" dirty="0"/>
              <a:t>Embeds an AI-powered tutor capable of answering programming-related questions</a:t>
            </a:r>
          </a:p>
          <a:p>
            <a:pPr marL="571500" indent="-571500">
              <a:buFont typeface="Arial" panose="020B0604020202020204" pitchFamily="34" charset="0"/>
              <a:buChar char="•"/>
            </a:pPr>
            <a:r>
              <a:rPr lang="en-US" sz="3200" dirty="0"/>
              <a:t>Uses retrieval-augmented generation (RAG) to ground responses </a:t>
            </a:r>
            <a:r>
              <a:rPr lang="en-US" sz="3200" i="1" dirty="0"/>
              <a:t>specifically</a:t>
            </a:r>
            <a:r>
              <a:rPr lang="en-US" sz="3200" dirty="0"/>
              <a:t> in teacher-uploaded curriculum materials</a:t>
            </a:r>
          </a:p>
          <a:p>
            <a:pPr marL="571500" indent="-571500">
              <a:buFont typeface="Arial" panose="020B0604020202020204" pitchFamily="34" charset="0"/>
              <a:buChar char="•"/>
            </a:pPr>
            <a:r>
              <a:rPr lang="en-US" sz="3200" dirty="0"/>
              <a:t>Provides hint-based guidance without directly supplying answers </a:t>
            </a:r>
          </a:p>
          <a:p>
            <a:pPr marL="571500" indent="-571500">
              <a:buFont typeface="Arial" panose="020B0604020202020204" pitchFamily="34" charset="0"/>
              <a:buChar char="•"/>
            </a:pPr>
            <a:r>
              <a:rPr lang="en-US" sz="3200" dirty="0"/>
              <a:t>Limits AI responses to class-taught content, avoiding general internet knowledge or curriculum deviations</a:t>
            </a:r>
          </a:p>
          <a:p>
            <a:r>
              <a:rPr lang="en-US" sz="3200" b="1" dirty="0"/>
              <a:t>Accessibility &amp; Infrastructure Considerations</a:t>
            </a:r>
            <a:endParaRPr lang="en-US" sz="3200" dirty="0"/>
          </a:p>
          <a:p>
            <a:pPr marL="457200" indent="-457200">
              <a:buFont typeface="Arial" panose="020B0604020202020204" pitchFamily="34" charset="0"/>
              <a:buChar char="•"/>
            </a:pPr>
            <a:r>
              <a:rPr lang="en-US" sz="3200" dirty="0"/>
              <a:t>Designed with resource constraints of schools like Peñaranda Senior High School in mind</a:t>
            </a:r>
          </a:p>
          <a:p>
            <a:pPr marL="457200" indent="-457200">
              <a:buFont typeface="Arial" panose="020B0604020202020204" pitchFamily="34" charset="0"/>
              <a:buChar char="•"/>
            </a:pPr>
            <a:r>
              <a:rPr lang="en-US" sz="3200" dirty="0"/>
              <a:t>Favors accessibility and simplicity over feature complexity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a:extLst>
            <a:ext uri="{FF2B5EF4-FFF2-40B4-BE49-F238E27FC236}">
              <a16:creationId xmlns:a16="http://schemas.microsoft.com/office/drawing/2014/main" id="{5F4CAB44-7F2B-582C-ABCA-C1907931B4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D08F74E-0403-0AF0-0F48-6279E68A67E9}"/>
              </a:ext>
            </a:extLst>
          </p:cNvPr>
          <p:cNvGrpSpPr/>
          <p:nvPr/>
        </p:nvGrpSpPr>
        <p:grpSpPr>
          <a:xfrm>
            <a:off x="0" y="241621"/>
            <a:ext cx="18303850" cy="1988344"/>
            <a:chOff x="0" y="0"/>
            <a:chExt cx="24405133" cy="2651125"/>
          </a:xfrm>
        </p:grpSpPr>
        <p:sp>
          <p:nvSpPr>
            <p:cNvPr id="3" name="Freeform 3">
              <a:extLst>
                <a:ext uri="{FF2B5EF4-FFF2-40B4-BE49-F238E27FC236}">
                  <a16:creationId xmlns:a16="http://schemas.microsoft.com/office/drawing/2014/main" id="{1B2CAC25-11C5-E913-6961-6591EFDB819A}"/>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a:extLst>
              <a:ext uri="{FF2B5EF4-FFF2-40B4-BE49-F238E27FC236}">
                <a16:creationId xmlns:a16="http://schemas.microsoft.com/office/drawing/2014/main" id="{A96E6272-B7E2-3B08-5D5A-80FB32469D78}"/>
              </a:ext>
            </a:extLst>
          </p:cNvPr>
          <p:cNvGrpSpPr/>
          <p:nvPr/>
        </p:nvGrpSpPr>
        <p:grpSpPr>
          <a:xfrm>
            <a:off x="0" y="0"/>
            <a:ext cx="18303850" cy="1988344"/>
            <a:chOff x="0" y="0"/>
            <a:chExt cx="24405133" cy="2651125"/>
          </a:xfrm>
        </p:grpSpPr>
        <p:sp>
          <p:nvSpPr>
            <p:cNvPr id="5" name="Freeform 5">
              <a:extLst>
                <a:ext uri="{FF2B5EF4-FFF2-40B4-BE49-F238E27FC236}">
                  <a16:creationId xmlns:a16="http://schemas.microsoft.com/office/drawing/2014/main" id="{9F1346E7-38C3-A3E3-7296-A4434E055296}"/>
                </a:ext>
              </a:extLst>
            </p:cNvPr>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grpSp>
        <p:nvGrpSpPr>
          <p:cNvPr id="7" name="Group 7">
            <a:extLst>
              <a:ext uri="{FF2B5EF4-FFF2-40B4-BE49-F238E27FC236}">
                <a16:creationId xmlns:a16="http://schemas.microsoft.com/office/drawing/2014/main" id="{66606CDD-E665-6549-98F9-5B23DB86AF1C}"/>
              </a:ext>
            </a:extLst>
          </p:cNvPr>
          <p:cNvGrpSpPr/>
          <p:nvPr/>
        </p:nvGrpSpPr>
        <p:grpSpPr>
          <a:xfrm>
            <a:off x="394821" y="2692155"/>
            <a:ext cx="4206240" cy="411480"/>
            <a:chOff x="0" y="0"/>
            <a:chExt cx="5608320" cy="548640"/>
          </a:xfrm>
        </p:grpSpPr>
        <p:sp>
          <p:nvSpPr>
            <p:cNvPr id="8" name="Freeform 8">
              <a:extLst>
                <a:ext uri="{FF2B5EF4-FFF2-40B4-BE49-F238E27FC236}">
                  <a16:creationId xmlns:a16="http://schemas.microsoft.com/office/drawing/2014/main" id="{CF52ECE5-732A-EF62-52FE-2DAEE6E833F5}"/>
                </a:ext>
              </a:extLst>
            </p:cNvPr>
            <p:cNvSpPr/>
            <p:nvPr/>
          </p:nvSpPr>
          <p:spPr>
            <a:xfrm>
              <a:off x="0" y="0"/>
              <a:ext cx="5608320" cy="548640"/>
            </a:xfrm>
            <a:custGeom>
              <a:avLst/>
              <a:gdLst/>
              <a:ahLst/>
              <a:cxnLst/>
              <a:rect l="l" t="t" r="r" b="b"/>
              <a:pathLst>
                <a:path w="5608320" h="548640">
                  <a:moveTo>
                    <a:pt x="0" y="274320"/>
                  </a:moveTo>
                  <a:cubicBezTo>
                    <a:pt x="0" y="122809"/>
                    <a:pt x="122809" y="0"/>
                    <a:pt x="274320" y="0"/>
                  </a:cubicBezTo>
                  <a:lnTo>
                    <a:pt x="5334000" y="0"/>
                  </a:lnTo>
                  <a:cubicBezTo>
                    <a:pt x="5485511" y="0"/>
                    <a:pt x="5608320" y="122809"/>
                    <a:pt x="5608320" y="274320"/>
                  </a:cubicBezTo>
                  <a:cubicBezTo>
                    <a:pt x="5608320" y="425831"/>
                    <a:pt x="5485511" y="548640"/>
                    <a:pt x="5334000" y="548640"/>
                  </a:cubicBezTo>
                  <a:lnTo>
                    <a:pt x="274320" y="548640"/>
                  </a:lnTo>
                  <a:cubicBezTo>
                    <a:pt x="122809" y="548640"/>
                    <a:pt x="0" y="425831"/>
                    <a:pt x="0" y="274320"/>
                  </a:cubicBezTo>
                  <a:close/>
                </a:path>
              </a:pathLst>
            </a:custGeom>
            <a:solidFill>
              <a:srgbClr val="002060"/>
            </a:solidFill>
            <a:ln w="12700">
              <a:solidFill>
                <a:srgbClr val="000000"/>
              </a:solidFill>
            </a:ln>
          </p:spPr>
        </p:sp>
        <p:sp>
          <p:nvSpPr>
            <p:cNvPr id="9" name="TextBox 9">
              <a:extLst>
                <a:ext uri="{FF2B5EF4-FFF2-40B4-BE49-F238E27FC236}">
                  <a16:creationId xmlns:a16="http://schemas.microsoft.com/office/drawing/2014/main" id="{133C05C7-D611-F3CD-8C85-4E42FB5134EB}"/>
                </a:ext>
              </a:extLst>
            </p:cNvPr>
            <p:cNvSpPr txBox="1"/>
            <p:nvPr/>
          </p:nvSpPr>
          <p:spPr>
            <a:xfrm>
              <a:off x="0" y="-9525"/>
              <a:ext cx="5608320" cy="558165"/>
            </a:xfrm>
            <a:prstGeom prst="rect">
              <a:avLst/>
            </a:prstGeom>
          </p:spPr>
          <p:txBody>
            <a:bodyPr lIns="50800" tIns="50800" rIns="50800" bIns="50800" rtlCol="0" anchor="ctr"/>
            <a:lstStyle/>
            <a:p>
              <a:pPr algn="ctr">
                <a:lnSpc>
                  <a:spcPts val="2520"/>
                </a:lnSpc>
              </a:pPr>
              <a:r>
                <a:rPr lang="en-US" sz="2100" b="1" dirty="0">
                  <a:solidFill>
                    <a:srgbClr val="FFFFFF"/>
                  </a:solidFill>
                  <a:latin typeface="Arial Bold" panose="020B0704020202020204"/>
                  <a:ea typeface="Arial Bold" panose="020B0704020202020204"/>
                  <a:cs typeface="Arial Bold" panose="020B0704020202020204"/>
                  <a:sym typeface="Arial Bold" panose="020B0704020202020204"/>
                </a:rPr>
                <a:t>Limitations</a:t>
              </a:r>
            </a:p>
          </p:txBody>
        </p:sp>
      </p:grpSp>
      <p:grpSp>
        <p:nvGrpSpPr>
          <p:cNvPr id="10" name="Group 10">
            <a:extLst>
              <a:ext uri="{FF2B5EF4-FFF2-40B4-BE49-F238E27FC236}">
                <a16:creationId xmlns:a16="http://schemas.microsoft.com/office/drawing/2014/main" id="{CD79137A-5017-2782-6CFC-D0F73081CA50}"/>
              </a:ext>
            </a:extLst>
          </p:cNvPr>
          <p:cNvGrpSpPr/>
          <p:nvPr/>
        </p:nvGrpSpPr>
        <p:grpSpPr>
          <a:xfrm>
            <a:off x="1137990" y="317592"/>
            <a:ext cx="1294181" cy="1299372"/>
            <a:chOff x="0" y="0"/>
            <a:chExt cx="1725574" cy="1732496"/>
          </a:xfrm>
        </p:grpSpPr>
        <p:sp>
          <p:nvSpPr>
            <p:cNvPr id="11" name="Freeform 11">
              <a:extLst>
                <a:ext uri="{FF2B5EF4-FFF2-40B4-BE49-F238E27FC236}">
                  <a16:creationId xmlns:a16="http://schemas.microsoft.com/office/drawing/2014/main" id="{15BBCA14-6C10-BAB1-19C8-467A84C2BAEF}"/>
                </a:ext>
              </a:extLst>
            </p:cNvPr>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12" name="Group 12">
            <a:extLst>
              <a:ext uri="{FF2B5EF4-FFF2-40B4-BE49-F238E27FC236}">
                <a16:creationId xmlns:a16="http://schemas.microsoft.com/office/drawing/2014/main" id="{07226368-47F1-778E-0E60-730C0411E219}"/>
              </a:ext>
            </a:extLst>
          </p:cNvPr>
          <p:cNvGrpSpPr/>
          <p:nvPr/>
        </p:nvGrpSpPr>
        <p:grpSpPr>
          <a:xfrm>
            <a:off x="2497941" y="297113"/>
            <a:ext cx="1319841" cy="1319841"/>
            <a:chOff x="0" y="0"/>
            <a:chExt cx="1759788" cy="1759788"/>
          </a:xfrm>
        </p:grpSpPr>
        <p:sp>
          <p:nvSpPr>
            <p:cNvPr id="13" name="Freeform 13">
              <a:extLst>
                <a:ext uri="{FF2B5EF4-FFF2-40B4-BE49-F238E27FC236}">
                  <a16:creationId xmlns:a16="http://schemas.microsoft.com/office/drawing/2014/main" id="{283034F9-23A9-4558-782B-DB90EE665F2E}"/>
                </a:ext>
              </a:extLst>
            </p:cNvPr>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4" name="TextBox 14">
            <a:extLst>
              <a:ext uri="{FF2B5EF4-FFF2-40B4-BE49-F238E27FC236}">
                <a16:creationId xmlns:a16="http://schemas.microsoft.com/office/drawing/2014/main" id="{416BE3EB-686E-1023-CCAB-8D517AE3C24B}"/>
              </a:ext>
            </a:extLst>
          </p:cNvPr>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5" name="Group 15">
            <a:extLst>
              <a:ext uri="{FF2B5EF4-FFF2-40B4-BE49-F238E27FC236}">
                <a16:creationId xmlns:a16="http://schemas.microsoft.com/office/drawing/2014/main" id="{23016D4B-78AC-3B06-5E21-2A50F7B32DB0}"/>
              </a:ext>
            </a:extLst>
          </p:cNvPr>
          <p:cNvGrpSpPr/>
          <p:nvPr/>
        </p:nvGrpSpPr>
        <p:grpSpPr>
          <a:xfrm>
            <a:off x="3926415" y="344900"/>
            <a:ext cx="8250345" cy="461667"/>
            <a:chOff x="0" y="0"/>
            <a:chExt cx="11000461" cy="615556"/>
          </a:xfrm>
        </p:grpSpPr>
        <p:sp>
          <p:nvSpPr>
            <p:cNvPr id="16" name="Freeform 16">
              <a:extLst>
                <a:ext uri="{FF2B5EF4-FFF2-40B4-BE49-F238E27FC236}">
                  <a16:creationId xmlns:a16="http://schemas.microsoft.com/office/drawing/2014/main" id="{B47762F5-9303-AB73-171E-181CB48316D2}"/>
                </a:ext>
              </a:extLst>
            </p:cNvPr>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7" name="TextBox 17">
              <a:extLst>
                <a:ext uri="{FF2B5EF4-FFF2-40B4-BE49-F238E27FC236}">
                  <a16:creationId xmlns:a16="http://schemas.microsoft.com/office/drawing/2014/main" id="{9B38E954-437E-620E-02BC-1FAD8F634DDD}"/>
                </a:ext>
              </a:extLst>
            </p:cNvPr>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21" name="TextBox 20">
            <a:extLst>
              <a:ext uri="{FF2B5EF4-FFF2-40B4-BE49-F238E27FC236}">
                <a16:creationId xmlns:a16="http://schemas.microsoft.com/office/drawing/2014/main" id="{FFD151AD-E5FF-A3EF-3AA1-5FB5A5A6B6D6}"/>
              </a:ext>
            </a:extLst>
          </p:cNvPr>
          <p:cNvSpPr txBox="1"/>
          <p:nvPr/>
        </p:nvSpPr>
        <p:spPr>
          <a:xfrm>
            <a:off x="990600" y="3259215"/>
            <a:ext cx="15773400" cy="7848302"/>
          </a:xfrm>
          <a:prstGeom prst="rect">
            <a:avLst/>
          </a:prstGeom>
          <a:noFill/>
        </p:spPr>
        <p:txBody>
          <a:bodyPr wrap="square">
            <a:spAutoFit/>
          </a:bodyPr>
          <a:lstStyle/>
          <a:p>
            <a:pPr marL="571500" indent="-571500">
              <a:buFont typeface="Arial" panose="020B0604020202020204" pitchFamily="34" charset="0"/>
              <a:buChar char="•"/>
            </a:pPr>
            <a:r>
              <a:rPr lang="en-US" sz="3600" b="1" dirty="0"/>
              <a:t>Scope of AI responses is intentionally restricted</a:t>
            </a:r>
            <a:r>
              <a:rPr lang="en-US" sz="3600" dirty="0"/>
              <a:t> – The AI Tutor does not answer programming questions beyond the teacher's uploaded curriculum documents (DLLs, learning guides) to ensure alignment with class instruction.</a:t>
            </a:r>
          </a:p>
          <a:p>
            <a:pPr marL="571500" indent="-571500">
              <a:buFont typeface="Arial" panose="020B0604020202020204" pitchFamily="34" charset="0"/>
              <a:buChar char="•"/>
            </a:pPr>
            <a:r>
              <a:rPr lang="en-US" sz="3600" b="1" dirty="0"/>
              <a:t>Limited to Java programming</a:t>
            </a:r>
            <a:r>
              <a:rPr lang="en-US" sz="3600" dirty="0"/>
              <a:t> </a:t>
            </a:r>
            <a:r>
              <a:rPr lang="en-US" sz="3600" b="1" dirty="0"/>
              <a:t>(for now)</a:t>
            </a:r>
            <a:r>
              <a:rPr lang="en-US" sz="3600" dirty="0"/>
              <a:t>– The built-in code editor and automated assessments are designed for Java instruction, as cited in the problem context of the study.</a:t>
            </a:r>
          </a:p>
          <a:p>
            <a:pPr marL="571500" indent="-571500">
              <a:buFont typeface="Arial" panose="020B0604020202020204" pitchFamily="34" charset="0"/>
              <a:buChar char="•"/>
            </a:pPr>
            <a:r>
              <a:rPr lang="en-US" sz="3600" b="1" dirty="0"/>
              <a:t>No real-time teacher-AI coordination</a:t>
            </a:r>
            <a:r>
              <a:rPr lang="en-US" sz="3600" dirty="0"/>
              <a:t> – The AI Tutor functions as an on-demand support tool but does not replace or directly integrate with live teacher intervention during class hours.</a:t>
            </a:r>
          </a:p>
          <a:p>
            <a:pPr marL="571500" indent="-571500">
              <a:buFont typeface="Arial" panose="020B0604020202020204" pitchFamily="34" charset="0"/>
              <a:buChar char="•"/>
            </a:pPr>
            <a:r>
              <a:rPr lang="en-US" sz="3600" b="1" dirty="0"/>
              <a:t>No offline AI functionality</a:t>
            </a:r>
            <a:r>
              <a:rPr lang="en-US" sz="3600" dirty="0"/>
              <a:t> – Given the RAG-based approach requiring access to uploaded curriculum documents, the AI Tutor requires internet connectivity; students in offline environments cannot access AI assistance.</a:t>
            </a:r>
          </a:p>
          <a:p>
            <a:pPr marL="571500" indent="-571500">
              <a:buFont typeface="Arial" panose="020B0604020202020204" pitchFamily="34" charset="0"/>
              <a:buChar char="•"/>
            </a:pPr>
            <a:endParaRPr lang="en-US" sz="3600" dirty="0"/>
          </a:p>
          <a:p>
            <a:pPr marL="571500" indent="-571500">
              <a:buFont typeface="Arial" panose="020B0604020202020204" pitchFamily="34" charset="0"/>
              <a:buChar char="•"/>
            </a:pPr>
            <a:endParaRPr lang="en-US" sz="3600" dirty="0"/>
          </a:p>
        </p:txBody>
      </p:sp>
    </p:spTree>
    <p:extLst>
      <p:ext uri="{BB962C8B-B14F-4D97-AF65-F5344CB8AC3E}">
        <p14:creationId xmlns:p14="http://schemas.microsoft.com/office/powerpoint/2010/main" val="5526969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grpSp>
        <p:nvGrpSpPr>
          <p:cNvPr id="2" name="Group 2"/>
          <p:cNvGrpSpPr/>
          <p:nvPr/>
        </p:nvGrpSpPr>
        <p:grpSpPr>
          <a:xfrm>
            <a:off x="0" y="241621"/>
            <a:ext cx="18303850" cy="1988344"/>
            <a:chOff x="0" y="0"/>
            <a:chExt cx="24405133" cy="2651125"/>
          </a:xfrm>
        </p:grpSpPr>
        <p:sp>
          <p:nvSpPr>
            <p:cNvPr id="3" name="Freeform 3"/>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F08E17"/>
            </a:solidFill>
            <a:ln w="12700">
              <a:solidFill>
                <a:srgbClr val="000000"/>
              </a:solidFill>
            </a:ln>
          </p:spPr>
        </p:sp>
      </p:grpSp>
      <p:grpSp>
        <p:nvGrpSpPr>
          <p:cNvPr id="4" name="Group 4"/>
          <p:cNvGrpSpPr/>
          <p:nvPr/>
        </p:nvGrpSpPr>
        <p:grpSpPr>
          <a:xfrm>
            <a:off x="0" y="0"/>
            <a:ext cx="18303850" cy="1988344"/>
            <a:chOff x="0" y="0"/>
            <a:chExt cx="24405133" cy="2651125"/>
          </a:xfrm>
        </p:grpSpPr>
        <p:sp>
          <p:nvSpPr>
            <p:cNvPr id="5" name="Freeform 5"/>
            <p:cNvSpPr/>
            <p:nvPr/>
          </p:nvSpPr>
          <p:spPr>
            <a:xfrm>
              <a:off x="0" y="0"/>
              <a:ext cx="24405082" cy="2651125"/>
            </a:xfrm>
            <a:custGeom>
              <a:avLst/>
              <a:gdLst/>
              <a:ahLst/>
              <a:cxnLst/>
              <a:rect l="l" t="t" r="r" b="b"/>
              <a:pathLst>
                <a:path w="24405082" h="2651125">
                  <a:moveTo>
                    <a:pt x="0" y="0"/>
                  </a:moveTo>
                  <a:lnTo>
                    <a:pt x="24405082" y="0"/>
                  </a:lnTo>
                  <a:lnTo>
                    <a:pt x="24405082" y="2651125"/>
                  </a:lnTo>
                  <a:lnTo>
                    <a:pt x="0" y="2651125"/>
                  </a:lnTo>
                </a:path>
              </a:pathLst>
            </a:custGeom>
            <a:solidFill>
              <a:srgbClr val="002060"/>
            </a:solidFill>
            <a:ln w="12700">
              <a:solidFill>
                <a:srgbClr val="000000"/>
              </a:solidFill>
            </a:ln>
          </p:spPr>
        </p:sp>
      </p:grpSp>
      <p:sp>
        <p:nvSpPr>
          <p:cNvPr id="6" name="AutoShape 6"/>
          <p:cNvSpPr/>
          <p:nvPr/>
        </p:nvSpPr>
        <p:spPr>
          <a:xfrm rot="9840">
            <a:off x="1652026" y="3376917"/>
            <a:ext cx="14983949" cy="0"/>
          </a:xfrm>
          <a:prstGeom prst="line">
            <a:avLst/>
          </a:prstGeom>
          <a:ln w="19050" cap="rnd">
            <a:solidFill>
              <a:srgbClr val="7F7F7F"/>
            </a:solidFill>
            <a:prstDash val="solid"/>
            <a:headEnd type="none" w="sm" len="sm"/>
            <a:tailEnd type="none" w="sm" len="sm"/>
          </a:ln>
        </p:spPr>
      </p:sp>
      <p:grpSp>
        <p:nvGrpSpPr>
          <p:cNvPr id="7" name="Group 7"/>
          <p:cNvGrpSpPr/>
          <p:nvPr/>
        </p:nvGrpSpPr>
        <p:grpSpPr>
          <a:xfrm>
            <a:off x="1137990" y="317592"/>
            <a:ext cx="1294181" cy="1299372"/>
            <a:chOff x="0" y="0"/>
            <a:chExt cx="1725574" cy="1732496"/>
          </a:xfrm>
        </p:grpSpPr>
        <p:sp>
          <p:nvSpPr>
            <p:cNvPr id="8" name="Freeform 8"/>
            <p:cNvSpPr/>
            <p:nvPr/>
          </p:nvSpPr>
          <p:spPr>
            <a:xfrm>
              <a:off x="0" y="0"/>
              <a:ext cx="1725549" cy="1732534"/>
            </a:xfrm>
            <a:custGeom>
              <a:avLst/>
              <a:gdLst/>
              <a:ahLst/>
              <a:cxnLst/>
              <a:rect l="l" t="t" r="r" b="b"/>
              <a:pathLst>
                <a:path w="1725549" h="1732534">
                  <a:moveTo>
                    <a:pt x="0" y="0"/>
                  </a:moveTo>
                  <a:lnTo>
                    <a:pt x="1725549" y="0"/>
                  </a:lnTo>
                  <a:lnTo>
                    <a:pt x="1725549" y="1732534"/>
                  </a:lnTo>
                  <a:lnTo>
                    <a:pt x="0" y="1732534"/>
                  </a:lnTo>
                  <a:lnTo>
                    <a:pt x="0" y="0"/>
                  </a:lnTo>
                  <a:close/>
                </a:path>
              </a:pathLst>
            </a:custGeom>
            <a:blipFill>
              <a:blip r:embed="rId3"/>
              <a:stretch>
                <a:fillRect r="-1" b="-238"/>
              </a:stretch>
            </a:blipFill>
          </p:spPr>
        </p:sp>
      </p:grpSp>
      <p:grpSp>
        <p:nvGrpSpPr>
          <p:cNvPr id="9" name="Group 9"/>
          <p:cNvGrpSpPr/>
          <p:nvPr/>
        </p:nvGrpSpPr>
        <p:grpSpPr>
          <a:xfrm>
            <a:off x="2497941" y="297113"/>
            <a:ext cx="1319841" cy="1319841"/>
            <a:chOff x="0" y="0"/>
            <a:chExt cx="1759788" cy="1759788"/>
          </a:xfrm>
        </p:grpSpPr>
        <p:sp>
          <p:nvSpPr>
            <p:cNvPr id="10" name="Freeform 10"/>
            <p:cNvSpPr/>
            <p:nvPr/>
          </p:nvSpPr>
          <p:spPr>
            <a:xfrm>
              <a:off x="0" y="0"/>
              <a:ext cx="1759839" cy="1759839"/>
            </a:xfrm>
            <a:custGeom>
              <a:avLst/>
              <a:gdLst/>
              <a:ahLst/>
              <a:cxnLst/>
              <a:rect l="l" t="t" r="r" b="b"/>
              <a:pathLst>
                <a:path w="1759839" h="1759839">
                  <a:moveTo>
                    <a:pt x="0" y="0"/>
                  </a:moveTo>
                  <a:lnTo>
                    <a:pt x="1759839" y="0"/>
                  </a:lnTo>
                  <a:lnTo>
                    <a:pt x="1759839" y="1759839"/>
                  </a:lnTo>
                  <a:lnTo>
                    <a:pt x="0" y="1759839"/>
                  </a:lnTo>
                  <a:lnTo>
                    <a:pt x="0" y="0"/>
                  </a:lnTo>
                  <a:close/>
                </a:path>
              </a:pathLst>
            </a:custGeom>
            <a:blipFill>
              <a:blip r:embed="rId4"/>
              <a:stretch>
                <a:fillRect r="2" b="2"/>
              </a:stretch>
            </a:blipFill>
          </p:spPr>
        </p:sp>
      </p:grpSp>
      <p:sp>
        <p:nvSpPr>
          <p:cNvPr id="11" name="TextBox 11"/>
          <p:cNvSpPr txBox="1"/>
          <p:nvPr/>
        </p:nvSpPr>
        <p:spPr>
          <a:xfrm>
            <a:off x="3974973" y="551755"/>
            <a:ext cx="8560451" cy="999001"/>
          </a:xfrm>
          <a:prstGeom prst="rect">
            <a:avLst/>
          </a:prstGeom>
        </p:spPr>
        <p:txBody>
          <a:bodyPr lIns="0" tIns="0" rIns="0" bIns="0" rtlCol="0" anchor="t">
            <a:spAutoFit/>
          </a:bodyPr>
          <a:lstStyle/>
          <a:p>
            <a:pPr algn="l">
              <a:lnSpc>
                <a:spcPts val="7200"/>
              </a:lnSpc>
            </a:pPr>
            <a:r>
              <a:rPr lang="en-US" sz="6000" b="1">
                <a:solidFill>
                  <a:srgbClr val="FFFFFF"/>
                </a:solidFill>
                <a:latin typeface="Arial Bold" panose="020B0704020202020204"/>
                <a:ea typeface="Arial Bold" panose="020B0704020202020204"/>
                <a:cs typeface="Arial Bold" panose="020B0704020202020204"/>
                <a:sym typeface="Arial Bold" panose="020B0704020202020204"/>
              </a:rPr>
              <a:t>PAPAYA OFF-CAMPUS</a:t>
            </a:r>
          </a:p>
        </p:txBody>
      </p:sp>
      <p:grpSp>
        <p:nvGrpSpPr>
          <p:cNvPr id="12" name="Group 12"/>
          <p:cNvGrpSpPr/>
          <p:nvPr/>
        </p:nvGrpSpPr>
        <p:grpSpPr>
          <a:xfrm>
            <a:off x="3926415" y="344900"/>
            <a:ext cx="8250345" cy="461667"/>
            <a:chOff x="0" y="0"/>
            <a:chExt cx="11000461" cy="615556"/>
          </a:xfrm>
        </p:grpSpPr>
        <p:sp>
          <p:nvSpPr>
            <p:cNvPr id="13" name="Freeform 13"/>
            <p:cNvSpPr/>
            <p:nvPr/>
          </p:nvSpPr>
          <p:spPr>
            <a:xfrm>
              <a:off x="0" y="0"/>
              <a:ext cx="11000456" cy="615554"/>
            </a:xfrm>
            <a:custGeom>
              <a:avLst/>
              <a:gdLst/>
              <a:ahLst/>
              <a:cxnLst/>
              <a:rect l="l" t="t" r="r" b="b"/>
              <a:pathLst>
                <a:path w="11000456" h="615554">
                  <a:moveTo>
                    <a:pt x="0" y="0"/>
                  </a:moveTo>
                  <a:lnTo>
                    <a:pt x="11000456" y="0"/>
                  </a:lnTo>
                  <a:lnTo>
                    <a:pt x="11000456" y="615554"/>
                  </a:lnTo>
                  <a:lnTo>
                    <a:pt x="0" y="615554"/>
                  </a:lnTo>
                  <a:close/>
                </a:path>
              </a:pathLst>
            </a:custGeom>
            <a:solidFill>
              <a:srgbClr val="000000">
                <a:alpha val="0"/>
              </a:srgbClr>
            </a:solidFill>
            <a:ln w="12700">
              <a:solidFill>
                <a:srgbClr val="000000"/>
              </a:solidFill>
            </a:ln>
          </p:spPr>
        </p:sp>
        <p:sp>
          <p:nvSpPr>
            <p:cNvPr id="14" name="TextBox 14"/>
            <p:cNvSpPr txBox="1"/>
            <p:nvPr/>
          </p:nvSpPr>
          <p:spPr>
            <a:xfrm>
              <a:off x="0" y="-9525"/>
              <a:ext cx="11000461" cy="625081"/>
            </a:xfrm>
            <a:prstGeom prst="rect">
              <a:avLst/>
            </a:prstGeom>
          </p:spPr>
          <p:txBody>
            <a:bodyPr lIns="0" tIns="0" rIns="0" bIns="0" rtlCol="0" anchor="ctr"/>
            <a:lstStyle/>
            <a:p>
              <a:pPr algn="ctr">
                <a:lnSpc>
                  <a:spcPts val="2520"/>
                </a:lnSpc>
              </a:pPr>
              <a:r>
                <a:rPr lang="en-US" sz="2100">
                  <a:solidFill>
                    <a:srgbClr val="FFFFFF"/>
                  </a:solidFill>
                  <a:latin typeface="Arial" panose="020B0604020202020204"/>
                  <a:ea typeface="Arial" panose="020B0604020202020204"/>
                  <a:cs typeface="Arial" panose="020B0604020202020204"/>
                  <a:sym typeface="Arial" panose="020B0604020202020204"/>
                </a:rPr>
                <a:t>NUEVA ECIJA UNIVERSITY OF SCIENCE AND TECHNOLOGY</a:t>
              </a:r>
            </a:p>
          </p:txBody>
        </p:sp>
      </p:grpSp>
      <p:sp>
        <p:nvSpPr>
          <p:cNvPr id="15" name="TextBox 15"/>
          <p:cNvSpPr txBox="1"/>
          <p:nvPr/>
        </p:nvSpPr>
        <p:spPr>
          <a:xfrm>
            <a:off x="333080" y="5283508"/>
            <a:ext cx="17381820" cy="1322165"/>
          </a:xfrm>
          <a:prstGeom prst="rect">
            <a:avLst/>
          </a:prstGeom>
        </p:spPr>
        <p:txBody>
          <a:bodyPr lIns="0" tIns="0" rIns="0" bIns="0" rtlCol="0" anchor="t">
            <a:spAutoFit/>
          </a:bodyPr>
          <a:lstStyle/>
          <a:p>
            <a:pPr algn="ctr">
              <a:lnSpc>
                <a:spcPts val="9720"/>
              </a:lnSpc>
            </a:pPr>
            <a:r>
              <a:rPr lang="en-US" sz="8100" b="1">
                <a:solidFill>
                  <a:srgbClr val="002060"/>
                </a:solidFill>
                <a:latin typeface="Arial Bold" panose="020B0704020202020204"/>
                <a:ea typeface="Arial Bold" panose="020B0704020202020204"/>
                <a:cs typeface="Arial Bold" panose="020B0704020202020204"/>
                <a:sym typeface="Arial Bold" panose="020B0704020202020204"/>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TotalTime>
  <Words>1073</Words>
  <Application>Microsoft Office PowerPoint</Application>
  <PresentationFormat>Custom</PresentationFormat>
  <Paragraphs>133</Paragraphs>
  <Slides>16</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Calibri</vt:lpstr>
      <vt:lpstr>Arial</vt:lpstr>
      <vt:lpstr>Arial Nova Bold</vt:lpstr>
      <vt:lpstr>Arial Nova</vt:lpstr>
      <vt:lpstr>Arial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CapstoneTitles</dc:title>
  <dc:creator>Justin Balanquit</dc:creator>
  <cp:lastModifiedBy>EDRICK MARTIN</cp:lastModifiedBy>
  <cp:revision>61</cp:revision>
  <dcterms:created xsi:type="dcterms:W3CDTF">2006-08-16T00:00:00Z</dcterms:created>
  <dcterms:modified xsi:type="dcterms:W3CDTF">2026-05-16T15:30:53Z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F892707EC9DE4087ADE848D72869058E_12</vt:lpwstr>
  </property>
  <property fmtid="{D5CDD505-2E9C-101B-9397-08002B2CF9AE}" pid="3" name="KSOProductBuildVer">
    <vt:lpwstr>1033-12.1.0.25862</vt:lpwstr>
  </property>
</Properties>
</file>