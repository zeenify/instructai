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310" r:id="rId2"/>
    <p:sldId id="312" r:id="rId3"/>
    <p:sldId id="311" r:id="rId4"/>
    <p:sldId id="260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7" roundtripDataSignature="AMtx7mi8t2yJuunjB/Rw17dzlXyD8BQp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6" autoAdjust="0"/>
    <p:restoredTop sz="88732"/>
  </p:normalViewPr>
  <p:slideViewPr>
    <p:cSldViewPr snapToGrid="0">
      <p:cViewPr varScale="1">
        <p:scale>
          <a:sx n="90" d="100"/>
          <a:sy n="90" d="100"/>
        </p:scale>
        <p:origin x="60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6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9DFCE-01A7-49DA-8C9B-84FF793FA8A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D6517-3203-42B9-B343-43EA49C26C07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66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F77725D-AC1D-5A82-FEAC-63D1937A6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21BBB6AB-D57F-C26D-0A7A-E72819508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F05C8933-C2CC-91D8-594E-4782508DFD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605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C6F114E-9677-A171-05EA-8ACFDDF9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78CD3F3C-104C-D49D-10DF-5A414A798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E5A31708-F9B5-FADE-8E7F-31CBC69F8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7480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6A0078A-1560-056E-CDC7-ABA870D7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804A57F2-3B62-3A0A-5533-C1A3FE97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76261BB6-103F-F519-A1CF-609D2990B5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9117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179EF21-6881-6D7C-0C58-8549A43D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6ACC4F73-FA68-618C-5086-E6E9DB3C1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AF1A0EDC-FA86-7E36-E831-DF67B4DEB7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8964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438FD0BF-35A0-987C-C05D-F30406E2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1E388333-97C1-7633-DAB2-CAA436110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74AF7D23-6DDB-F3E1-8CA2-F8DF6966D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2624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36ED81A-DA71-7A33-AEC5-FC00A7B0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4316A3A8-B58D-8BD0-25A7-F840E3DC56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CB86D1E8-DF69-94FF-BEFE-77059EE76D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666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DE254C9-614C-AE59-E8E9-E5828EF2F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A907B356-C3FC-E689-23E6-3AA29A99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62FA92C1-FD90-7314-B520-6852B977D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204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8D72D950-9D1B-357F-2E31-5BDFF233E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33EA2C03-29CF-A668-821F-45F0DB2CA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360B5099-F4AA-6AE2-C1BB-1606E4B150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8765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71B0AA1-B479-1524-BB9C-E884B468B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4756E1E0-305E-B0A7-B54A-AC660416E0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740E8EF6-B7E5-C802-F03E-53E014AF4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7847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5895AA9-F03C-E250-ABF9-DB692548D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73AC1B29-4BD4-B90B-D897-5FF16DDCA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554FD224-A67B-23B2-2CBD-0549ED12C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2133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FFA5C61-1F2D-0522-7627-8FD354FF5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D99F2702-FB08-BA65-D9D4-13F719BCF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B2360CAD-4950-BD99-955F-B773590D4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4512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331AB31-13FC-9936-EFCA-26A1EFF22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ACF658E5-8F59-EC97-710A-D74D7A0CC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64E8F4AA-B74C-1672-1AD0-5AEDE5510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794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60CF1DA-01FB-C629-00FC-82A3D111D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CEA30E36-B11C-2852-AA6A-9E5FB40F7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B145735C-0B7B-4359-DE51-CEAE839AE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3097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EBD35E4-4C6F-5C7C-B359-04FEEC8FF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657EAEE5-6F83-61C4-0280-B74564FBD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15725D94-EF5E-B93A-EBC6-37EDE171B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1911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2D430349-140A-6D47-EE76-062361A9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4B5E2E27-D459-7CFA-6AD3-2278390B52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97A96987-AA61-4CDC-98E8-5E0C1139F1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1214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398EF21-966F-97EB-7601-9D5F133A0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50FE8791-3565-CD1D-5C8A-634BC2731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73F8DFE5-F0F7-5421-889C-A34329E36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081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4FD06C1-9F6D-9EF6-04CE-AD6ECB1C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71842667-DE4A-9292-B69F-A60711238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B0059535-6B21-0F6E-9531-406BF2140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1111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BFE3FAE-4FAA-FF65-E25E-C4B89913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>
            <a:extLst>
              <a:ext uri="{FF2B5EF4-FFF2-40B4-BE49-F238E27FC236}">
                <a16:creationId xmlns:a16="http://schemas.microsoft.com/office/drawing/2014/main" id="{A44834A6-3791-8B9C-0751-93CD7899A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5:notes">
            <a:extLst>
              <a:ext uri="{FF2B5EF4-FFF2-40B4-BE49-F238E27FC236}">
                <a16:creationId xmlns:a16="http://schemas.microsoft.com/office/drawing/2014/main" id="{B1ECAE0E-5642-001C-0922-D7FD74A9A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1531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body" idx="1"/>
          </p:nvPr>
        </p:nvSpPr>
        <p:spPr>
          <a:xfrm>
            <a:off x="838200" y="2055813"/>
            <a:ext cx="10515600" cy="412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body" idx="1"/>
          </p:nvPr>
        </p:nvSpPr>
        <p:spPr>
          <a:xfrm>
            <a:off x="838200" y="2055813"/>
            <a:ext cx="10515600" cy="412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 rot="5400000">
            <a:off x="4035425" y="-1141412"/>
            <a:ext cx="412115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161083"/>
            <a:ext cx="12202566" cy="1325563"/>
          </a:xfrm>
          <a:prstGeom prst="roundRect">
            <a:avLst>
              <a:gd name="adj" fmla="val 0"/>
            </a:avLst>
          </a:prstGeom>
          <a:solidFill>
            <a:srgbClr val="F08E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1"/>
          <p:cNvSpPr/>
          <p:nvPr/>
        </p:nvSpPr>
        <p:spPr>
          <a:xfrm>
            <a:off x="0" y="0"/>
            <a:ext cx="12202566" cy="1325563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838200" y="2055813"/>
            <a:ext cx="10515600" cy="412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6706EA-A331-4A22-B424-B484C1343BEB}"/>
              </a:ext>
            </a:extLst>
          </p:cNvPr>
          <p:cNvSpPr txBox="1"/>
          <p:nvPr/>
        </p:nvSpPr>
        <p:spPr>
          <a:xfrm>
            <a:off x="0" y="2820223"/>
            <a:ext cx="621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3175"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Nova" panose="020B05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ALJHON C. PANGILINAN</a:t>
            </a:r>
            <a:endParaRPr kumimoji="0" lang="en-PH" sz="3600" b="1" i="0" u="none" strike="noStrike" kern="1200" cap="none" spc="0" normalizeH="0" baseline="0" noProof="0" dirty="0">
              <a:ln w="3175">
                <a:noFill/>
              </a:ln>
              <a:solidFill>
                <a:srgbClr val="002060"/>
              </a:solidFill>
              <a:effectLst/>
              <a:uLnTx/>
              <a:uFillTx/>
              <a:latin typeface="Arial Nova" panose="020B05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3AA9CD-2F5A-4AA4-A23D-CB7F94B02FCD}"/>
              </a:ext>
            </a:extLst>
          </p:cNvPr>
          <p:cNvSpPr/>
          <p:nvPr/>
        </p:nvSpPr>
        <p:spPr>
          <a:xfrm>
            <a:off x="1516322" y="241566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PROPONENTS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356BE77-CF80-452B-B28B-4FEEC23BD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61" y="211727"/>
            <a:ext cx="862790" cy="8662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18CE41-E61E-440E-BB39-C54A31F487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65296" y="198078"/>
            <a:ext cx="879895" cy="8798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351AE82-F538-4094-B813-6E67139A6FA9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PAPAYA O</a:t>
            </a:r>
            <a:r>
              <a:rPr lang="en-US" sz="4000" b="1" kern="1200" dirty="0">
                <a:ln w="3175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FF-CAMPUS</a:t>
            </a:r>
            <a:endParaRPr kumimoji="0" lang="en-PH" sz="4000" b="1" i="0" u="none" strike="noStrike" kern="1200" cap="none" spc="0" normalizeH="0" baseline="0" noProof="0" dirty="0">
              <a:ln w="3175"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BBA272E-70BE-4242-BBED-330AC9A1EB72}"/>
              </a:ext>
            </a:extLst>
          </p:cNvPr>
          <p:cNvCxnSpPr>
            <a:cxnSpLocks/>
          </p:cNvCxnSpPr>
          <p:nvPr/>
        </p:nvCxnSpPr>
        <p:spPr>
          <a:xfrm>
            <a:off x="84094" y="3466554"/>
            <a:ext cx="5674785" cy="0"/>
          </a:xfrm>
          <a:prstGeom prst="line">
            <a:avLst/>
          </a:prstGeom>
          <a:ln w="28575" cap="rnd">
            <a:solidFill>
              <a:srgbClr val="F08E1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9F61C21-B4D5-4BF4-859F-2F4AF30FDE26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NUEVA ECIJA UNIVERSITY OF SCIENCE AND TECHNOLOGY</a:t>
            </a:r>
            <a:endParaRPr kumimoji="0" lang="en-PH" sz="1400" b="0" i="0" u="none" strike="noStrike" kern="1200" cap="none" spc="0" normalizeH="0" baseline="0" noProof="0" dirty="0">
              <a:ln w="3175"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A7787E-E134-4ACC-9D2A-CBFB63DE958A}"/>
              </a:ext>
            </a:extLst>
          </p:cNvPr>
          <p:cNvSpPr/>
          <p:nvPr/>
        </p:nvSpPr>
        <p:spPr>
          <a:xfrm>
            <a:off x="8016240" y="2914671"/>
            <a:ext cx="2397760" cy="2317138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" name="Google Shape;48;p1">
            <a:extLst>
              <a:ext uri="{FF2B5EF4-FFF2-40B4-BE49-F238E27FC236}">
                <a16:creationId xmlns:a16="http://schemas.microsoft.com/office/drawing/2014/main" id="{05A6180D-7313-171E-DA07-236DC8915682}"/>
              </a:ext>
            </a:extLst>
          </p:cNvPr>
          <p:cNvSpPr/>
          <p:nvPr/>
        </p:nvSpPr>
        <p:spPr>
          <a:xfrm>
            <a:off x="396026" y="1679515"/>
            <a:ext cx="4294507" cy="61411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400"/>
            </a:pPr>
            <a:r>
              <a:rPr lang="en-US" dirty="0">
                <a:solidFill>
                  <a:schemeClr val="bg1"/>
                </a:solidFill>
              </a:rPr>
              <a:t>Design and Development of a Web-Based Vendor and Stall Management System for General Tinio Public Market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CB0F6-1344-8316-4F57-A8B5EDE28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2119" y="0"/>
            <a:ext cx="1329881" cy="1332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29DFDC-2840-EF22-8A68-8066C92CF92E}"/>
              </a:ext>
            </a:extLst>
          </p:cNvPr>
          <p:cNvSpPr txBox="1"/>
          <p:nvPr/>
        </p:nvSpPr>
        <p:spPr>
          <a:xfrm>
            <a:off x="-38889" y="3605666"/>
            <a:ext cx="621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ln w="3175">
                  <a:noFill/>
                </a:ln>
                <a:solidFill>
                  <a:srgbClr val="002060"/>
                </a:solidFill>
                <a:latin typeface="Arial Nova" panose="020B05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RAFAEL V. PALMA III</a:t>
            </a:r>
            <a:endParaRPr kumimoji="0" lang="en-PH" sz="3600" b="1" i="0" u="none" strike="noStrike" kern="1200" cap="none" spc="0" normalizeH="0" baseline="0" noProof="0" dirty="0">
              <a:ln w="3175">
                <a:noFill/>
              </a:ln>
              <a:solidFill>
                <a:srgbClr val="002060"/>
              </a:solidFill>
              <a:effectLst/>
              <a:uLnTx/>
              <a:uFillTx/>
              <a:latin typeface="Arial Nova" panose="020B05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A700FD-8793-823E-1D3A-2303030735BB}"/>
              </a:ext>
            </a:extLst>
          </p:cNvPr>
          <p:cNvCxnSpPr>
            <a:cxnSpLocks/>
          </p:cNvCxnSpPr>
          <p:nvPr/>
        </p:nvCxnSpPr>
        <p:spPr>
          <a:xfrm>
            <a:off x="84094" y="4261800"/>
            <a:ext cx="5674785" cy="0"/>
          </a:xfrm>
          <a:prstGeom prst="line">
            <a:avLst/>
          </a:prstGeom>
          <a:ln w="28575" cap="rnd">
            <a:solidFill>
              <a:srgbClr val="F08E17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99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3484C9E-78C8-7DC6-BA64-AEA6551E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D727B335-6D86-9A9C-A99B-8566985A297F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1B12B64E-B38D-E086-7FFC-742F15A02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E06B3D3E-C811-902D-F40B-5B38AB8FD263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E9A853AB-9A4A-7BDE-0498-11BA22421342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01C10620-19F9-F2CB-D60E-E61367AE9036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A8EC1DB1-A5C1-AADD-F6F4-4646930BAED6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D6498526-1D35-B129-F883-283C1C66AC30}"/>
              </a:ext>
            </a:extLst>
          </p:cNvPr>
          <p:cNvSpPr txBox="1"/>
          <p:nvPr/>
        </p:nvSpPr>
        <p:spPr>
          <a:xfrm>
            <a:off x="0" y="2067983"/>
            <a:ext cx="11366161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+mj-lt"/>
              </a:rPr>
              <a:t>Module A – Vendor Management System</a:t>
            </a:r>
          </a:p>
          <a:p>
            <a:r>
              <a:rPr lang="en-US" sz="2000" dirty="0">
                <a:latin typeface="+mj-lt"/>
              </a:rPr>
              <a:t>Status: COMPLETED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The vendor management system is fully implemented with the following capabilities: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- Vendor Application Processing</a:t>
            </a:r>
          </a:p>
          <a:p>
            <a:r>
              <a:rPr lang="en-US" sz="2000" dirty="0">
                <a:latin typeface="+mj-lt"/>
              </a:rPr>
              <a:t>  - Public-facing vendor application submission form</a:t>
            </a:r>
          </a:p>
          <a:p>
            <a:r>
              <a:rPr lang="en-US" sz="2000" dirty="0">
                <a:latin typeface="+mj-lt"/>
              </a:rPr>
              <a:t>  - Document upload functionality (business permits, DTI permits, valid IDs)</a:t>
            </a:r>
          </a:p>
          <a:p>
            <a:r>
              <a:rPr lang="en-US" sz="2000" dirty="0">
                <a:latin typeface="+mj-lt"/>
              </a:rPr>
              <a:t>  - Staff/admin review and approval workflow</a:t>
            </a:r>
          </a:p>
          <a:p>
            <a:r>
              <a:rPr lang="en-US" sz="2000" dirty="0">
                <a:latin typeface="+mj-lt"/>
              </a:rPr>
              <a:t>  - Application status tracking (pending, approved, rejected)</a:t>
            </a:r>
          </a:p>
          <a:p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21685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B9EEA25-1B88-0DC3-2874-AAFB90DC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93BB5A8A-5795-BB22-36ED-EDC32BB0F95B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A2188F69-94C5-AA28-A0F1-63C73CA362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B298F019-148B-C618-1B68-ED346509D60C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8832FCF8-3DFE-8447-9A57-3FC8CECF2800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9E547578-753C-0F24-9C88-B8C023F0795D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8B1F81FF-233D-A415-4817-BE3EC5BA69DA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50EFF631-88DC-59CF-3C34-62CB597392D4}"/>
              </a:ext>
            </a:extLst>
          </p:cNvPr>
          <p:cNvSpPr txBox="1"/>
          <p:nvPr/>
        </p:nvSpPr>
        <p:spPr>
          <a:xfrm>
            <a:off x="34824" y="2535388"/>
            <a:ext cx="11366161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Vendor Record Management</a:t>
            </a:r>
          </a:p>
          <a:p>
            <a:r>
              <a:rPr lang="en-US" sz="2000" dirty="0">
                <a:latin typeface="+mj-lt"/>
              </a:rPr>
              <a:t>  - Complete CRUD operations for vendor records</a:t>
            </a:r>
          </a:p>
          <a:p>
            <a:r>
              <a:rPr lang="en-US" sz="2000" dirty="0">
                <a:latin typeface="+mj-lt"/>
              </a:rPr>
              <a:t>  - Vendor information storage (personal details, business information, contact details)</a:t>
            </a:r>
          </a:p>
          <a:p>
            <a:r>
              <a:rPr lang="en-US" sz="2000" dirty="0">
                <a:latin typeface="+mj-lt"/>
              </a:rPr>
              <a:t>  - Vendor code generation and assignment</a:t>
            </a:r>
          </a:p>
          <a:p>
            <a:r>
              <a:rPr lang="en-US" sz="2000" dirty="0">
                <a:latin typeface="+mj-lt"/>
              </a:rPr>
              <a:t>  - Stall number assignment to vendors</a:t>
            </a:r>
          </a:p>
          <a:p>
            <a:r>
              <a:rPr lang="en-US" sz="2000" dirty="0">
                <a:latin typeface="+mj-lt"/>
              </a:rPr>
              <a:t>  - Registration date and permit expiry tracking</a:t>
            </a:r>
          </a:p>
          <a:p>
            <a:r>
              <a:rPr lang="en-US" sz="2000" dirty="0">
                <a:latin typeface="+mj-lt"/>
              </a:rPr>
              <a:t>  - Vendor status management (active, inactive)</a:t>
            </a:r>
          </a:p>
        </p:txBody>
      </p:sp>
    </p:spTree>
    <p:extLst>
      <p:ext uri="{BB962C8B-B14F-4D97-AF65-F5344CB8AC3E}">
        <p14:creationId xmlns:p14="http://schemas.microsoft.com/office/powerpoint/2010/main" val="314120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/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/>
          <p:cNvSpPr txBox="1"/>
          <p:nvPr/>
        </p:nvSpPr>
        <p:spPr>
          <a:xfrm>
            <a:off x="34824" y="2593506"/>
            <a:ext cx="11366161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Vendor Statistics and Reporting</a:t>
            </a:r>
          </a:p>
          <a:p>
            <a:r>
              <a:rPr lang="en-US" sz="2000" dirty="0">
                <a:latin typeface="+mj-lt"/>
              </a:rPr>
              <a:t>  - Vendor statistics dashboard</a:t>
            </a:r>
          </a:p>
          <a:p>
            <a:r>
              <a:rPr lang="en-US" sz="2000" dirty="0">
                <a:latin typeface="+mj-lt"/>
              </a:rPr>
              <a:t>  - Available stalls query functionality</a:t>
            </a:r>
          </a:p>
          <a:p>
            <a:r>
              <a:rPr lang="en-US" sz="2000" dirty="0">
                <a:latin typeface="+mj-lt"/>
              </a:rPr>
              <a:t>  - Search and filter capabilities</a:t>
            </a:r>
          </a:p>
          <a:p>
            <a:r>
              <a:rPr lang="en-US" sz="2000" dirty="0">
                <a:latin typeface="+mj-lt"/>
              </a:rPr>
              <a:t>  - Vendor list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D618002-1D16-E47A-472E-DA8D7A00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3B033C03-01BB-1A68-9A5C-A38F475EC8A3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E5D94B89-F566-D857-1CA5-59AEE4A16E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D63ED5B4-476F-BA0A-0DC5-BF8DC587D9A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5F5EC6CB-2520-C55B-DB24-41B4EAFF1341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BD91EF2C-53AB-C05B-EE1E-1CE32CBFE850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F6E457EA-B35B-0EDF-4C41-DFBB5E6055DC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6BDDC929-5802-374F-E5F3-DA1684E3D390}"/>
              </a:ext>
            </a:extLst>
          </p:cNvPr>
          <p:cNvSpPr txBox="1"/>
          <p:nvPr/>
        </p:nvSpPr>
        <p:spPr>
          <a:xfrm>
            <a:off x="0" y="2067983"/>
            <a:ext cx="11366161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+mj-lt"/>
              </a:rPr>
              <a:t>Module B – Stall Management System</a:t>
            </a:r>
          </a:p>
          <a:p>
            <a:r>
              <a:rPr lang="en-US" sz="2000" dirty="0">
                <a:latin typeface="+mj-lt"/>
              </a:rPr>
              <a:t>Status: COMPLETED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The stall management system provides comprehensive stall inventory control: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Stall Inventory</a:t>
            </a:r>
          </a:p>
          <a:p>
            <a:r>
              <a:rPr lang="en-US" sz="2000" dirty="0">
                <a:latin typeface="+mj-lt"/>
              </a:rPr>
              <a:t>  - Stall number tracking</a:t>
            </a:r>
          </a:p>
          <a:p>
            <a:r>
              <a:rPr lang="en-US" sz="2000" dirty="0">
                <a:latin typeface="+mj-lt"/>
              </a:rPr>
              <a:t>  - Stall location mapping</a:t>
            </a:r>
          </a:p>
          <a:p>
            <a:r>
              <a:rPr lang="en-US" sz="2000" dirty="0">
                <a:latin typeface="+mj-lt"/>
              </a:rPr>
              <a:t>  - Stall size information</a:t>
            </a:r>
          </a:p>
          <a:p>
            <a:r>
              <a:rPr lang="en-US" sz="2000" dirty="0">
                <a:latin typeface="+mj-lt"/>
              </a:rPr>
              <a:t>  - Stall status management (occupied, available, maintenance)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Public Stall Information</a:t>
            </a:r>
          </a:p>
          <a:p>
            <a:r>
              <a:rPr lang="en-US" sz="2000" dirty="0">
                <a:latin typeface="+mj-lt"/>
              </a:rPr>
              <a:t>  - Public API for stall map data</a:t>
            </a:r>
          </a:p>
          <a:p>
            <a:r>
              <a:rPr lang="en-US" sz="2000" dirty="0">
                <a:latin typeface="+mj-lt"/>
              </a:rPr>
              <a:t>  - Read-only access for visitors</a:t>
            </a:r>
          </a:p>
          <a:p>
            <a:r>
              <a:rPr lang="en-US" sz="2000" dirty="0">
                <a:latin typeface="+mj-lt"/>
              </a:rPr>
              <a:t>  - Stall availability display</a:t>
            </a:r>
          </a:p>
        </p:txBody>
      </p:sp>
    </p:spTree>
    <p:extLst>
      <p:ext uri="{BB962C8B-B14F-4D97-AF65-F5344CB8AC3E}">
        <p14:creationId xmlns:p14="http://schemas.microsoft.com/office/powerpoint/2010/main" val="2458546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4971D65-6C17-F80D-AC45-A6541B9AA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08E03DE4-CC51-96D8-2D74-56CE6D6AA478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68088581-C35F-00F6-42E5-5DD85636E4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984489C3-766B-92FD-478A-034E55E59E8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C69EB71A-7765-174A-C0CD-AA4647341B00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D0D5A959-08D5-0D41-F8F6-B914E0D32086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7874A0B6-FC09-25DF-DA8D-A81E24086252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242921F5-8C13-594E-C7F7-7ED7AB309969}"/>
              </a:ext>
            </a:extLst>
          </p:cNvPr>
          <p:cNvSpPr txBox="1"/>
          <p:nvPr/>
        </p:nvSpPr>
        <p:spPr>
          <a:xfrm>
            <a:off x="0" y="2915053"/>
            <a:ext cx="11366161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+mj-lt"/>
              </a:rPr>
              <a:t>Module C – SMS Notification System</a:t>
            </a:r>
          </a:p>
          <a:p>
            <a:r>
              <a:rPr lang="en-US" sz="2000" dirty="0">
                <a:latin typeface="+mj-lt"/>
              </a:rPr>
              <a:t>Status: NOT COMPLETE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The SMS notification system is implemented but not operational due to budget constraints for SMS service provider fees.</a:t>
            </a:r>
          </a:p>
        </p:txBody>
      </p:sp>
    </p:spTree>
    <p:extLst>
      <p:ext uri="{BB962C8B-B14F-4D97-AF65-F5344CB8AC3E}">
        <p14:creationId xmlns:p14="http://schemas.microsoft.com/office/powerpoint/2010/main" val="111218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C182889-EA2E-AE1D-915D-EA8BC69B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02123936-4BF3-72F4-7FEC-F0A0FBE26BDE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BF74FB03-85BC-08B7-7456-052887E03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C1172293-F952-E1BE-9449-07150AB3C4C0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94B51042-B0CA-33A3-9F46-7AFA8016400E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398544B1-9216-5F33-80AB-5B017FF867C1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1BC3AD89-757D-16E9-A7F6-C1F844432EED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9C967A10-6FD7-8CED-AC52-D7AAF8F6162B}"/>
              </a:ext>
            </a:extLst>
          </p:cNvPr>
          <p:cNvSpPr txBox="1"/>
          <p:nvPr/>
        </p:nvSpPr>
        <p:spPr>
          <a:xfrm>
            <a:off x="0" y="2067983"/>
            <a:ext cx="11366161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+mj-lt"/>
              </a:rPr>
              <a:t>Module D – Temporary Vendor Ticket System</a:t>
            </a:r>
          </a:p>
          <a:p>
            <a:r>
              <a:rPr lang="en-US" sz="2000" dirty="0">
                <a:latin typeface="+mj-lt"/>
              </a:rPr>
              <a:t>Status: COMPLETED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The temporary vendor ticket system manages daily temporary vendor operations: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Ticket Issuance</a:t>
            </a:r>
          </a:p>
          <a:p>
            <a:r>
              <a:rPr lang="en-US" sz="2000" dirty="0">
                <a:latin typeface="+mj-lt"/>
              </a:rPr>
              <a:t>  - Daily ticket creation for temporary vendors</a:t>
            </a:r>
          </a:p>
          <a:p>
            <a:r>
              <a:rPr lang="en-US" sz="2000" dirty="0">
                <a:latin typeface="+mj-lt"/>
              </a:rPr>
              <a:t>  - Ticket information tracking</a:t>
            </a:r>
          </a:p>
          <a:p>
            <a:r>
              <a:rPr lang="en-US" sz="2000" dirty="0">
                <a:latin typeface="+mj-lt"/>
              </a:rPr>
              <a:t>  - Ticket status management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Daily Summary Reporting</a:t>
            </a:r>
          </a:p>
          <a:p>
            <a:r>
              <a:rPr lang="en-US" sz="2000" dirty="0">
                <a:latin typeface="+mj-lt"/>
              </a:rPr>
              <a:t>  - Daily transaction summary</a:t>
            </a:r>
          </a:p>
          <a:p>
            <a:r>
              <a:rPr lang="en-US" sz="2000" dirty="0">
                <a:latin typeface="+mj-lt"/>
              </a:rPr>
              <a:t>  - Ticket count tracking</a:t>
            </a:r>
          </a:p>
          <a:p>
            <a:r>
              <a:rPr lang="en-US" sz="2000" dirty="0">
                <a:latin typeface="+mj-lt"/>
              </a:rPr>
              <a:t>  - Revenue calculation</a:t>
            </a:r>
          </a:p>
          <a:p>
            <a:r>
              <a:rPr lang="en-US" sz="2000" dirty="0">
                <a:latin typeface="+mj-lt"/>
              </a:rPr>
              <a:t>  - Daily summary submission workflow</a:t>
            </a:r>
          </a:p>
          <a:p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0018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BE8BC36-6CAA-E9D8-ECE0-C3C80E197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B9D949D9-C5E6-8E07-7AC5-4B6C3A16A513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F75C2C8D-7A4C-C868-EA84-FAC1F2B0BB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74479CB8-C1F4-339D-4726-84DC59AB0AE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E3BF7BD5-D8F6-1678-131F-C11D9E343B9F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9F112F76-330E-6C01-CFD5-D886210EED4B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05E2379E-A6E4-C74D-E3A2-F0B386E893AC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D58EDFF9-0DCC-F82D-2CB7-9099091FC761}"/>
              </a:ext>
            </a:extLst>
          </p:cNvPr>
          <p:cNvSpPr txBox="1"/>
          <p:nvPr/>
        </p:nvSpPr>
        <p:spPr>
          <a:xfrm>
            <a:off x="0" y="2915053"/>
            <a:ext cx="1136616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 Ticket Management</a:t>
            </a:r>
          </a:p>
          <a:p>
            <a:r>
              <a:rPr lang="en-US" sz="2000" dirty="0"/>
              <a:t>  - Ticket CRUD operations</a:t>
            </a:r>
          </a:p>
          <a:p>
            <a:r>
              <a:rPr lang="en-US" sz="2000" dirty="0"/>
              <a:t>  - Ticket history tracking</a:t>
            </a:r>
          </a:p>
          <a:p>
            <a:r>
              <a:rPr lang="en-US" sz="2000" dirty="0"/>
              <a:t>  - Ticket validation</a:t>
            </a:r>
          </a:p>
        </p:txBody>
      </p:sp>
    </p:spTree>
    <p:extLst>
      <p:ext uri="{BB962C8B-B14F-4D97-AF65-F5344CB8AC3E}">
        <p14:creationId xmlns:p14="http://schemas.microsoft.com/office/powerpoint/2010/main" val="628376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5918080-F29F-E563-5C88-11CD15F6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9D2E9066-82FF-B045-8C70-2B93DD0AD777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992255D4-F464-A487-AFA6-C0F1F15DD9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7DCFEB7C-317E-E5A6-9834-DABA8E97DF6D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790D1221-11F7-B819-DA8F-98007077B4A3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BAFCB5B7-4CD8-3B9D-2BE0-3A036EE1AA2F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F47BE0CD-A706-35D2-7436-B3141D0EEBB0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2A15D7C0-5D06-E83A-44B9-4B42100E2835}"/>
              </a:ext>
            </a:extLst>
          </p:cNvPr>
          <p:cNvSpPr txBox="1"/>
          <p:nvPr/>
        </p:nvSpPr>
        <p:spPr>
          <a:xfrm>
            <a:off x="0" y="2067983"/>
            <a:ext cx="11366161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+mj-lt"/>
              </a:rPr>
              <a:t>Module E – Backup and Restore System</a:t>
            </a:r>
          </a:p>
          <a:p>
            <a:r>
              <a:rPr lang="en-US" sz="2000" dirty="0">
                <a:latin typeface="+mj-lt"/>
              </a:rPr>
              <a:t>Status: COMPLETED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The backup and restore system ensures data protection and disaster recovery: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Database Backup</a:t>
            </a:r>
          </a:p>
          <a:p>
            <a:r>
              <a:rPr lang="en-US" sz="2000" dirty="0">
                <a:latin typeface="+mj-lt"/>
              </a:rPr>
              <a:t>  - Automated backup creation</a:t>
            </a:r>
          </a:p>
          <a:p>
            <a:r>
              <a:rPr lang="en-US" sz="2000" dirty="0">
                <a:latin typeface="+mj-lt"/>
              </a:rPr>
              <a:t>  - Backup file management</a:t>
            </a:r>
          </a:p>
          <a:p>
            <a:r>
              <a:rPr lang="en-US" sz="2000" dirty="0">
                <a:latin typeface="+mj-lt"/>
              </a:rPr>
              <a:t>  - Backup scheduling capabilities</a:t>
            </a:r>
          </a:p>
          <a:p>
            <a:endParaRPr lang="en-US" sz="2000" dirty="0">
              <a:latin typeface="+mj-lt"/>
            </a:endParaRPr>
          </a:p>
          <a:p>
            <a:r>
              <a:rPr lang="en-US" sz="2000" dirty="0">
                <a:latin typeface="+mj-lt"/>
              </a:rPr>
              <a:t> Restore Functionality</a:t>
            </a:r>
          </a:p>
          <a:p>
            <a:r>
              <a:rPr lang="en-US" sz="2000" dirty="0">
                <a:latin typeface="+mj-lt"/>
              </a:rPr>
              <a:t>  - Database restoration from backups</a:t>
            </a:r>
          </a:p>
          <a:p>
            <a:r>
              <a:rPr lang="en-US" sz="2000" dirty="0">
                <a:latin typeface="+mj-lt"/>
              </a:rPr>
              <a:t>  - Backup integrity verification</a:t>
            </a:r>
          </a:p>
          <a:p>
            <a:r>
              <a:rPr lang="en-US" sz="2000" dirty="0">
                <a:latin typeface="+mj-lt"/>
              </a:rPr>
              <a:t>  - Rollback capabilities</a:t>
            </a:r>
          </a:p>
          <a:p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2085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8F1527B-BEB7-DFDF-A84A-67B92E115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647D78C0-B899-EFBD-E5C9-122F83F869FF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B14D7722-138A-B4F8-9C0C-55EF6E66A1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D1E67694-AF61-562A-2795-93E12137003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6277039E-5F35-D59D-CAC5-5E57F56ABF97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65C035D9-0F86-968F-6DE2-31C857D341CC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78E5FF77-473A-EE24-8271-2D930622FD09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628A0D08-71F3-C16D-9B70-E6A7003FC4E0}"/>
              </a:ext>
            </a:extLst>
          </p:cNvPr>
          <p:cNvSpPr txBox="1"/>
          <p:nvPr/>
        </p:nvSpPr>
        <p:spPr>
          <a:xfrm>
            <a:off x="34824" y="2653463"/>
            <a:ext cx="1136616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 Backup Download</a:t>
            </a:r>
          </a:p>
          <a:p>
            <a:r>
              <a:rPr lang="en-US" sz="2000" dirty="0"/>
              <a:t>  - Backup file download for external storage</a:t>
            </a:r>
          </a:p>
          <a:p>
            <a:r>
              <a:rPr lang="en-US" sz="2000" dirty="0"/>
              <a:t>  - Backup file deletion</a:t>
            </a:r>
          </a:p>
          <a:p>
            <a:r>
              <a:rPr lang="en-US" sz="2000" dirty="0"/>
              <a:t>  - Backup history tracking</a:t>
            </a:r>
          </a:p>
        </p:txBody>
      </p:sp>
    </p:spTree>
    <p:extLst>
      <p:ext uri="{BB962C8B-B14F-4D97-AF65-F5344CB8AC3E}">
        <p14:creationId xmlns:p14="http://schemas.microsoft.com/office/powerpoint/2010/main" val="299632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CA084C9-03A0-7609-FEE3-E0FEDF28C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4B4D1CF2-9A9F-416E-CD22-EC659C0B46E0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9700486A-3929-8D9F-F62F-65D79E60B4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755F92C5-829C-4ADC-2086-C12FCEBF1A7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C83D7A9A-2871-EA1B-330F-92398C9FB3B0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A3C1C683-C483-2B0B-0EAE-A27435B2B227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83C9173D-3EEE-1188-8C98-47DC6258B719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CC8D7670-42E7-7DF0-4CDC-BCE6C47553B3}"/>
              </a:ext>
            </a:extLst>
          </p:cNvPr>
          <p:cNvSpPr txBox="1"/>
          <p:nvPr/>
        </p:nvSpPr>
        <p:spPr>
          <a:xfrm>
            <a:off x="34824" y="2067983"/>
            <a:ext cx="11366161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dirty="0">
                <a:latin typeface="+mj-lt"/>
              </a:rPr>
              <a:t>Module F – Public Information Website</a:t>
            </a:r>
          </a:p>
          <a:p>
            <a:r>
              <a:rPr lang="en-US" sz="1800" dirty="0">
                <a:latin typeface="+mj-lt"/>
              </a:rPr>
              <a:t>Status: COMPLETED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The public-facing website provides market information to visitors: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Market Information</a:t>
            </a:r>
          </a:p>
          <a:p>
            <a:r>
              <a:rPr lang="en-US" sz="1800" dirty="0">
                <a:latin typeface="+mj-lt"/>
              </a:rPr>
              <a:t>  - Market details and descriptions</a:t>
            </a:r>
          </a:p>
          <a:p>
            <a:r>
              <a:rPr lang="en-US" sz="1800" dirty="0">
                <a:latin typeface="+mj-lt"/>
              </a:rPr>
              <a:t>  - Section-based content organization</a:t>
            </a:r>
          </a:p>
          <a:p>
            <a:r>
              <a:rPr lang="en-US" sz="1800" dirty="0">
                <a:latin typeface="+mj-lt"/>
              </a:rPr>
              <a:t>  - Published/unpublished content management</a:t>
            </a:r>
          </a:p>
          <a:p>
            <a:r>
              <a:rPr lang="en-US" sz="1800" dirty="0">
                <a:latin typeface="+mj-lt"/>
              </a:rPr>
              <a:t>  - Sort ordering for content display</a:t>
            </a:r>
          </a:p>
          <a:p>
            <a:endParaRPr lang="en-US" sz="1800" dirty="0">
              <a:latin typeface="+mj-lt"/>
            </a:endParaRPr>
          </a:p>
          <a:p>
            <a:r>
              <a:rPr lang="en-US" sz="1800" dirty="0">
                <a:latin typeface="+mj-lt"/>
              </a:rPr>
              <a:t>News and Announcements</a:t>
            </a:r>
          </a:p>
          <a:p>
            <a:r>
              <a:rPr lang="en-US" sz="1800" dirty="0">
                <a:latin typeface="+mj-lt"/>
              </a:rPr>
              <a:t>  - News publication system</a:t>
            </a:r>
          </a:p>
          <a:p>
            <a:r>
              <a:rPr lang="en-US" sz="1800" dirty="0">
                <a:latin typeface="+mj-lt"/>
              </a:rPr>
              <a:t>  - Pinned announcements feature</a:t>
            </a:r>
          </a:p>
          <a:p>
            <a:r>
              <a:rPr lang="en-US" sz="1800" dirty="0">
                <a:latin typeface="+mj-lt"/>
              </a:rPr>
              <a:t>  - Category-based news filtering</a:t>
            </a:r>
          </a:p>
          <a:p>
            <a:r>
              <a:rPr lang="en-US" sz="1800" dirty="0">
                <a:latin typeface="+mj-lt"/>
              </a:rPr>
              <a:t>  - Public news API</a:t>
            </a:r>
          </a:p>
        </p:txBody>
      </p:sp>
    </p:spTree>
    <p:extLst>
      <p:ext uri="{BB962C8B-B14F-4D97-AF65-F5344CB8AC3E}">
        <p14:creationId xmlns:p14="http://schemas.microsoft.com/office/powerpoint/2010/main" val="3715762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1E46278-798B-CF1F-C10D-FD6700E43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90757402-EFFD-6750-EBCD-C83B9CEF8243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BAA5A80D-4ACC-30C3-4628-BC343BB7FA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291A41D5-807E-0C0F-2E11-99FD078E0A33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1D87B4E4-5659-2D00-4EC7-6E2DAF7D0841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42D9408B-5B91-6A18-DB6A-7817A0AA8976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E13FDB49-B815-1AF1-DFD2-9B3DD230ECF4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084AE27C-E0BE-DC27-102F-6EBF8FA7BC7F}"/>
              </a:ext>
            </a:extLst>
          </p:cNvPr>
          <p:cNvSpPr txBox="1"/>
          <p:nvPr/>
        </p:nvSpPr>
        <p:spPr>
          <a:xfrm>
            <a:off x="0" y="2067983"/>
            <a:ext cx="11366161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Public Stall Map</a:t>
            </a:r>
          </a:p>
          <a:p>
            <a:r>
              <a:rPr lang="en-US" sz="2000" dirty="0"/>
              <a:t>  - Interactive stall map display</a:t>
            </a:r>
          </a:p>
          <a:p>
            <a:r>
              <a:rPr lang="en-US" sz="2000" dirty="0"/>
              <a:t>  - Stall availability visualization</a:t>
            </a:r>
          </a:p>
          <a:p>
            <a:r>
              <a:rPr lang="en-US" sz="2000" dirty="0"/>
              <a:t>  - Stall location information</a:t>
            </a:r>
          </a:p>
          <a:p>
            <a:endParaRPr lang="en-US" sz="2000" dirty="0"/>
          </a:p>
          <a:p>
            <a:r>
              <a:rPr lang="en-US" sz="2000" dirty="0"/>
              <a:t>Chatbot Integration</a:t>
            </a:r>
          </a:p>
          <a:p>
            <a:r>
              <a:rPr lang="en-US" sz="2000" dirty="0"/>
              <a:t>  - AI-powered chatbot for public inquiries</a:t>
            </a:r>
          </a:p>
          <a:p>
            <a:r>
              <a:rPr lang="en-US" sz="2000" dirty="0"/>
              <a:t>  - Chat history tracking</a:t>
            </a:r>
          </a:p>
          <a:p>
            <a:r>
              <a:rPr lang="en-US" sz="2000" dirty="0"/>
              <a:t>  - Feedback collection system</a:t>
            </a:r>
          </a:p>
          <a:p>
            <a:r>
              <a:rPr lang="en-US" sz="2000" dirty="0"/>
              <a:t>  - FAQ response capabilities</a:t>
            </a:r>
          </a:p>
        </p:txBody>
      </p:sp>
    </p:spTree>
    <p:extLst>
      <p:ext uri="{BB962C8B-B14F-4D97-AF65-F5344CB8AC3E}">
        <p14:creationId xmlns:p14="http://schemas.microsoft.com/office/powerpoint/2010/main" val="131031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0C844F5-6CD5-6B41-A6B2-C0351DE6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E022F9F8-D86F-234D-D2E3-038C267FEF39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53A87313-97E2-45EC-1004-4E00488FFA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9A8A72DC-BFA8-258D-E2B1-A6B48E83C374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8125641F-B358-D8BD-A382-C4354C378334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6CA0FECC-E581-84A4-5D3D-92894B695A26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53DA0971-6BA1-35B1-958B-63F225B32BE2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41C4720F-1013-DCE9-3DE2-D9638AA59F58}"/>
              </a:ext>
            </a:extLst>
          </p:cNvPr>
          <p:cNvSpPr txBox="1"/>
          <p:nvPr/>
        </p:nvSpPr>
        <p:spPr>
          <a:xfrm>
            <a:off x="0" y="2067983"/>
            <a:ext cx="11366161" cy="506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900" dirty="0">
                <a:latin typeface="+mj-lt"/>
              </a:rPr>
              <a:t>MODULE G - Authentication and Authorization System</a:t>
            </a:r>
          </a:p>
          <a:p>
            <a:r>
              <a:rPr lang="en-US" sz="1900" dirty="0">
                <a:latin typeface="+mj-lt"/>
              </a:rPr>
              <a:t>Status: COMPLETED</a:t>
            </a:r>
          </a:p>
          <a:p>
            <a:endParaRPr lang="en-US" sz="1900" dirty="0">
              <a:latin typeface="+mj-lt"/>
            </a:endParaRPr>
          </a:p>
          <a:p>
            <a:r>
              <a:rPr lang="en-US" sz="1900" dirty="0">
                <a:latin typeface="+mj-lt"/>
              </a:rPr>
              <a:t>The authentication system provides secure access control:</a:t>
            </a:r>
          </a:p>
          <a:p>
            <a:endParaRPr lang="en-US" sz="1900" dirty="0">
              <a:latin typeface="+mj-lt"/>
            </a:endParaRPr>
          </a:p>
          <a:p>
            <a:r>
              <a:rPr lang="en-US" sz="1900" dirty="0">
                <a:latin typeface="+mj-lt"/>
              </a:rPr>
              <a:t> User Authentication</a:t>
            </a:r>
          </a:p>
          <a:p>
            <a:r>
              <a:rPr lang="en-US" sz="1900" dirty="0">
                <a:latin typeface="+mj-lt"/>
              </a:rPr>
              <a:t>  - Email and password login</a:t>
            </a:r>
          </a:p>
          <a:p>
            <a:r>
              <a:rPr lang="en-US" sz="1900" dirty="0">
                <a:latin typeface="+mj-lt"/>
              </a:rPr>
              <a:t>  - Session-based authentication</a:t>
            </a:r>
          </a:p>
          <a:p>
            <a:r>
              <a:rPr lang="en-US" sz="1900" dirty="0">
                <a:latin typeface="+mj-lt"/>
              </a:rPr>
              <a:t>  - Session regeneration for security</a:t>
            </a:r>
          </a:p>
          <a:p>
            <a:r>
              <a:rPr lang="en-US" sz="1900" dirty="0">
                <a:latin typeface="+mj-lt"/>
              </a:rPr>
              <a:t>  - Secure logout functionality</a:t>
            </a:r>
          </a:p>
          <a:p>
            <a:endParaRPr lang="en-US" sz="1900" dirty="0">
              <a:latin typeface="+mj-lt"/>
            </a:endParaRPr>
          </a:p>
          <a:p>
            <a:r>
              <a:rPr lang="en-US" sz="1900" dirty="0">
                <a:latin typeface="+mj-lt"/>
              </a:rPr>
              <a:t> Role-Based Access Control</a:t>
            </a:r>
          </a:p>
          <a:p>
            <a:r>
              <a:rPr lang="en-US" sz="1900" dirty="0">
                <a:latin typeface="+mj-lt"/>
              </a:rPr>
              <a:t>  - Admin role – Full system access</a:t>
            </a:r>
          </a:p>
          <a:p>
            <a:r>
              <a:rPr lang="en-US" sz="1900" dirty="0">
                <a:latin typeface="+mj-lt"/>
              </a:rPr>
              <a:t>  - Staff role – Operational access</a:t>
            </a:r>
          </a:p>
          <a:p>
            <a:r>
              <a:rPr lang="en-US" sz="1900" dirty="0">
                <a:latin typeface="+mj-lt"/>
              </a:rPr>
              <a:t>  - Vendor role – Vendor portal access</a:t>
            </a:r>
          </a:p>
          <a:p>
            <a:r>
              <a:rPr lang="en-US" sz="1900" dirty="0">
                <a:latin typeface="+mj-lt"/>
              </a:rPr>
              <a:t>  - Role-based route protection</a:t>
            </a:r>
          </a:p>
          <a:p>
            <a:endParaRPr lang="en-US" sz="19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2218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73294BD-2496-7DEC-4DA9-1D8382E8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E2DF1EC2-DDBA-5835-FB51-DB2155BAFD3E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AB0D80F6-BDFE-6AF7-D190-08B7A75814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50454E5D-3904-AA2A-55DB-5C97004757B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61EE519E-46B1-E609-0C4B-25084CA9DA8A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888F35E7-1635-E25B-F463-D1266605BB91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76AC0E93-F91B-7FF9-40C8-5252016DA509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00A190D7-68D8-0C63-C910-6047C8B788CD}"/>
              </a:ext>
            </a:extLst>
          </p:cNvPr>
          <p:cNvSpPr txBox="1"/>
          <p:nvPr/>
        </p:nvSpPr>
        <p:spPr>
          <a:xfrm>
            <a:off x="0" y="2942569"/>
            <a:ext cx="1136616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 User Management</a:t>
            </a:r>
          </a:p>
          <a:p>
            <a:r>
              <a:rPr lang="en-US" sz="2000" dirty="0"/>
              <a:t>  - User creation and management</a:t>
            </a:r>
          </a:p>
          <a:p>
            <a:r>
              <a:rPr lang="en-US" sz="2000" dirty="0"/>
              <a:t>  - Vendor portal credential creation</a:t>
            </a:r>
          </a:p>
          <a:p>
            <a:r>
              <a:rPr lang="en-US" sz="2000" dirty="0"/>
              <a:t>  - User-vendor relationship mapping</a:t>
            </a:r>
          </a:p>
        </p:txBody>
      </p:sp>
    </p:spTree>
    <p:extLst>
      <p:ext uri="{BB962C8B-B14F-4D97-AF65-F5344CB8AC3E}">
        <p14:creationId xmlns:p14="http://schemas.microsoft.com/office/powerpoint/2010/main" val="4175914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F557EB2-67DF-BDDB-2EFA-C5D2EF1E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1865A9A5-5C0A-38AA-44BB-9579CB2E1AE3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C03C0823-8A27-F44A-B40D-6B645C411D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2A540E49-6704-1288-46D7-4625C08C61F7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DC6CD6FB-211B-24EB-9A5A-79F56612D0DC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545ABADD-CAAD-E488-F8D9-580E2BEF853F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B83099E0-0AF2-5B29-66D1-65BF8833B486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BE98718F-FD0C-2E82-1501-B7ADCDBFF78C}"/>
              </a:ext>
            </a:extLst>
          </p:cNvPr>
          <p:cNvSpPr txBox="1"/>
          <p:nvPr/>
        </p:nvSpPr>
        <p:spPr>
          <a:xfrm>
            <a:off x="0" y="2070503"/>
            <a:ext cx="11366161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MODULE H - Vendor Portal</a:t>
            </a:r>
          </a:p>
          <a:p>
            <a:r>
              <a:rPr lang="en-US" sz="2000" dirty="0"/>
              <a:t>Status: COMPLETED</a:t>
            </a:r>
          </a:p>
          <a:p>
            <a:endParaRPr lang="en-US" sz="2000" dirty="0"/>
          </a:p>
          <a:p>
            <a:r>
              <a:rPr lang="en-US" sz="2000" dirty="0"/>
              <a:t>The vendor portal provides dedicated access for registered vendors:</a:t>
            </a:r>
          </a:p>
          <a:p>
            <a:endParaRPr lang="en-US" sz="2000" dirty="0"/>
          </a:p>
          <a:p>
            <a:r>
              <a:rPr lang="en-US" sz="2000" dirty="0"/>
              <a:t>Profile Management</a:t>
            </a:r>
          </a:p>
          <a:p>
            <a:r>
              <a:rPr lang="en-US" sz="2000" dirty="0"/>
              <a:t>  - Vendor profile viewing</a:t>
            </a:r>
          </a:p>
          <a:p>
            <a:r>
              <a:rPr lang="en-US" sz="2000" dirty="0"/>
              <a:t>  - Personal information display</a:t>
            </a:r>
          </a:p>
          <a:p>
            <a:r>
              <a:rPr lang="en-US" sz="2000" dirty="0"/>
              <a:t>  - Business details access</a:t>
            </a:r>
          </a:p>
          <a:p>
            <a:endParaRPr lang="en-US" sz="2000" dirty="0"/>
          </a:p>
          <a:p>
            <a:r>
              <a:rPr lang="en-US" sz="2000" dirty="0"/>
              <a:t>Information Access</a:t>
            </a:r>
          </a:p>
          <a:p>
            <a:r>
              <a:rPr lang="en-US" sz="2000" dirty="0"/>
              <a:t>  - Announcement viewing</a:t>
            </a:r>
          </a:p>
          <a:p>
            <a:r>
              <a:rPr lang="en-US" sz="2000" dirty="0"/>
              <a:t>  - Available stalls checking</a:t>
            </a:r>
          </a:p>
          <a:p>
            <a:r>
              <a:rPr lang="en-US" sz="2000" dirty="0"/>
              <a:t>  - All stalls listing</a:t>
            </a:r>
          </a:p>
          <a:p>
            <a:r>
              <a:rPr lang="en-US" sz="2000" dirty="0"/>
              <a:t>  - All vendors listing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04156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9D82193-DD53-D6EC-C94F-210F9306C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E3658436-B75C-894E-BD93-7519AD0112CF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8D5098A8-C63D-DBB7-FF9B-1B5AA6BFA95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AD354C8E-E567-8624-57D1-1DF0211A6B7B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47EE9EBD-0A69-FFFC-39F7-1D97D3B20580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CD5C130B-D48C-CDE6-2131-984D01AF8E29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B943448E-F4F3-C246-9661-775F11584F49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EDA550DB-A61B-88C5-1F84-7F3486025AB9}"/>
              </a:ext>
            </a:extLst>
          </p:cNvPr>
          <p:cNvSpPr txBox="1"/>
          <p:nvPr/>
        </p:nvSpPr>
        <p:spPr>
          <a:xfrm>
            <a:off x="34824" y="3115108"/>
            <a:ext cx="1136616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Complaint System</a:t>
            </a:r>
          </a:p>
          <a:p>
            <a:r>
              <a:rPr lang="en-US" sz="2000" dirty="0"/>
              <a:t>  - Complaint submission</a:t>
            </a:r>
          </a:p>
          <a:p>
            <a:r>
              <a:rPr lang="en-US" sz="2000" dirty="0"/>
              <a:t>  - Complaint tracking</a:t>
            </a:r>
          </a:p>
          <a:p>
            <a:r>
              <a:rPr lang="en-US" sz="2000" dirty="0"/>
              <a:t>  - Complaint history viewing</a:t>
            </a:r>
          </a:p>
        </p:txBody>
      </p:sp>
    </p:spTree>
    <p:extLst>
      <p:ext uri="{BB962C8B-B14F-4D97-AF65-F5344CB8AC3E}">
        <p14:creationId xmlns:p14="http://schemas.microsoft.com/office/powerpoint/2010/main" val="3136783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50944F36-FBF3-A129-8A71-1F51BD2B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D107D5C8-91C8-21B5-A431-72FA2F4ABD36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1661CBB3-B2D3-175A-8D5D-C26264E029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6F02C6AB-4D05-F729-87CF-4405007BD59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A10082EE-8A6E-8385-A841-553B2194FCDD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C4B1DFAC-89DA-7C7F-0132-7013EEFA163C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AB96F953-3F63-8954-5C87-59B32DA76D8C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F6F098E9-19CD-E4C9-BFD0-95E25C9F6A21}"/>
              </a:ext>
            </a:extLst>
          </p:cNvPr>
          <p:cNvSpPr txBox="1"/>
          <p:nvPr/>
        </p:nvSpPr>
        <p:spPr>
          <a:xfrm>
            <a:off x="0" y="2067983"/>
            <a:ext cx="11366161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MODULE I -  Vendor Complaint Management</a:t>
            </a:r>
          </a:p>
          <a:p>
            <a:r>
              <a:rPr lang="en-US" sz="2000" dirty="0"/>
              <a:t>Status: COMPLETED</a:t>
            </a:r>
          </a:p>
          <a:p>
            <a:endParaRPr lang="en-US" sz="2000" dirty="0"/>
          </a:p>
          <a:p>
            <a:r>
              <a:rPr lang="en-US" sz="2000" dirty="0"/>
              <a:t>The complaint system handles vendor grievances:</a:t>
            </a:r>
          </a:p>
          <a:p>
            <a:endParaRPr lang="en-US" sz="2000" dirty="0"/>
          </a:p>
          <a:p>
            <a:r>
              <a:rPr lang="en-US" sz="2000" dirty="0"/>
              <a:t>Complaint Submission</a:t>
            </a:r>
          </a:p>
          <a:p>
            <a:r>
              <a:rPr lang="en-US" sz="2000" dirty="0"/>
              <a:t>  - Vendor complaint creation</a:t>
            </a:r>
          </a:p>
          <a:p>
            <a:r>
              <a:rPr lang="en-US" sz="2000" dirty="0"/>
              <a:t>  - Complaint details recording</a:t>
            </a:r>
          </a:p>
          <a:p>
            <a:r>
              <a:rPr lang="en-US" sz="2000" dirty="0"/>
              <a:t>  - Complaint categorization</a:t>
            </a:r>
          </a:p>
          <a:p>
            <a:endParaRPr lang="en-US" sz="2000" dirty="0"/>
          </a:p>
          <a:p>
            <a:r>
              <a:rPr lang="en-US" sz="2000" dirty="0"/>
              <a:t>Complaint Management (Staff/Admin)</a:t>
            </a:r>
          </a:p>
          <a:p>
            <a:r>
              <a:rPr lang="en-US" sz="2000" dirty="0"/>
              <a:t>  - Complaint review and processing</a:t>
            </a:r>
          </a:p>
          <a:p>
            <a:r>
              <a:rPr lang="en-US" sz="2000" dirty="0"/>
              <a:t>  - Complaint status updates</a:t>
            </a:r>
          </a:p>
          <a:p>
            <a:r>
              <a:rPr lang="en-US" sz="2000" dirty="0"/>
              <a:t>  - Complaint statistics</a:t>
            </a:r>
          </a:p>
          <a:p>
            <a:r>
              <a:rPr lang="en-US" sz="2000" dirty="0"/>
              <a:t>  - Complaint deletion capability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5293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0DB5787-8544-F831-D039-DBE4610C0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C3598041-D20B-C2AC-24AD-529A4CBEAC38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B00D45B4-A413-45EC-9C9E-053D482BA8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851D7F1C-C44B-9260-795A-33979BF56D18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9A8AEF1E-D0EE-0DA6-0C17-616607FA7334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0282B460-7939-FBEF-C22E-2735F2541CBD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5F2735CE-71AD-7AC2-77C8-EA46CB68228F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59BF7BEC-5774-E290-F782-4CD7BB338015}"/>
              </a:ext>
            </a:extLst>
          </p:cNvPr>
          <p:cNvSpPr txBox="1"/>
          <p:nvPr/>
        </p:nvSpPr>
        <p:spPr>
          <a:xfrm>
            <a:off x="0" y="3033183"/>
            <a:ext cx="1136616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Complaint Tracking</a:t>
            </a:r>
          </a:p>
          <a:p>
            <a:r>
              <a:rPr lang="en-US" sz="2000" dirty="0"/>
              <a:t>  - Individual complaint viewing</a:t>
            </a:r>
          </a:p>
          <a:p>
            <a:r>
              <a:rPr lang="en-US" sz="2000" dirty="0"/>
              <a:t>  - Status monitoring</a:t>
            </a:r>
          </a:p>
          <a:p>
            <a:r>
              <a:rPr lang="en-US" sz="2000" dirty="0"/>
              <a:t>  - Resolution tracking</a:t>
            </a:r>
          </a:p>
        </p:txBody>
      </p:sp>
    </p:spTree>
    <p:extLst>
      <p:ext uri="{BB962C8B-B14F-4D97-AF65-F5344CB8AC3E}">
        <p14:creationId xmlns:p14="http://schemas.microsoft.com/office/powerpoint/2010/main" val="854579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ED7B9A6-3BAC-AE56-E099-0B3B3275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EA1989E6-E465-74B4-0CC7-3BCEAC55394D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438A7532-A080-8F38-4D2F-B5DBA7E1B3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421B7C15-D72D-8572-F9B4-F2900B8BFE39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1FF6EBDA-A507-5A8C-11E0-167DF20C1312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EF0A42C1-57D1-1B78-708A-F58F2DC073EE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DEEE4FC9-8526-BCB0-7610-24DFFF26761E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8A81A991-17EB-BFC4-00D8-E6E69AD1EB6F}"/>
              </a:ext>
            </a:extLst>
          </p:cNvPr>
          <p:cNvSpPr txBox="1"/>
          <p:nvPr/>
        </p:nvSpPr>
        <p:spPr>
          <a:xfrm>
            <a:off x="0" y="2067983"/>
            <a:ext cx="11366161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MODULE J -  Ticket Reporting System</a:t>
            </a:r>
          </a:p>
          <a:p>
            <a:r>
              <a:rPr lang="en-US" sz="2000" dirty="0"/>
              <a:t>Status: COMPLETED</a:t>
            </a:r>
          </a:p>
          <a:p>
            <a:endParaRPr lang="en-US" sz="2000" dirty="0"/>
          </a:p>
          <a:p>
            <a:r>
              <a:rPr lang="en-US" sz="2000" dirty="0"/>
              <a:t>The ticket reporting system provides comprehensive transaction analytics:</a:t>
            </a:r>
          </a:p>
          <a:p>
            <a:endParaRPr lang="en-US" sz="2000" dirty="0"/>
          </a:p>
          <a:p>
            <a:r>
              <a:rPr lang="en-US" sz="2000" dirty="0"/>
              <a:t>Transaction Reports</a:t>
            </a:r>
          </a:p>
          <a:p>
            <a:r>
              <a:rPr lang="en-US" sz="2000" dirty="0"/>
              <a:t>  - All transactions listing</a:t>
            </a:r>
          </a:p>
          <a:p>
            <a:r>
              <a:rPr lang="en-US" sz="2000" dirty="0"/>
              <a:t>  - Transaction history tracking</a:t>
            </a:r>
          </a:p>
          <a:p>
            <a:endParaRPr lang="en-US" sz="2000" dirty="0"/>
          </a:p>
          <a:p>
            <a:r>
              <a:rPr lang="en-US" sz="2000" dirty="0"/>
              <a:t>Time-Based Reports</a:t>
            </a:r>
          </a:p>
          <a:p>
            <a:r>
              <a:rPr lang="en-US" sz="2000" dirty="0"/>
              <a:t>  - Daily transaction reports</a:t>
            </a:r>
          </a:p>
          <a:p>
            <a:r>
              <a:rPr lang="en-US" sz="2000" dirty="0"/>
              <a:t>  - Weekly transaction reports</a:t>
            </a:r>
          </a:p>
          <a:p>
            <a:r>
              <a:rPr lang="en-US" sz="2000" dirty="0"/>
              <a:t>  - Monthly transaction reports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8587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57C2B66-9B46-FDB6-998A-8B3028BBA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>
            <a:extLst>
              <a:ext uri="{FF2B5EF4-FFF2-40B4-BE49-F238E27FC236}">
                <a16:creationId xmlns:a16="http://schemas.microsoft.com/office/drawing/2014/main" id="{24A80F8C-F424-B154-D726-FF27E4B9ED8A}"/>
              </a:ext>
            </a:extLst>
          </p:cNvPr>
          <p:cNvSpPr txBox="1"/>
          <p:nvPr/>
        </p:nvSpPr>
        <p:spPr>
          <a:xfrm>
            <a:off x="463826" y="2915053"/>
            <a:ext cx="11277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	 </a:t>
            </a:r>
            <a:endParaRPr/>
          </a:p>
        </p:txBody>
      </p:sp>
      <p:pic>
        <p:nvPicPr>
          <p:cNvPr id="103" name="Google Shape;103;p5">
            <a:extLst>
              <a:ext uri="{FF2B5EF4-FFF2-40B4-BE49-F238E27FC236}">
                <a16:creationId xmlns:a16="http://schemas.microsoft.com/office/drawing/2014/main" id="{1A793127-00A2-7517-7703-1026DB4142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661" y="211727"/>
            <a:ext cx="862790" cy="866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>
            <a:extLst>
              <a:ext uri="{FF2B5EF4-FFF2-40B4-BE49-F238E27FC236}">
                <a16:creationId xmlns:a16="http://schemas.microsoft.com/office/drawing/2014/main" id="{96275E28-9460-083A-34C3-FB89F03B01B5}"/>
              </a:ext>
            </a:extLst>
          </p:cNvPr>
          <p:cNvPicPr preferRelativeResize="0"/>
          <p:nvPr/>
        </p:nvPicPr>
        <p:blipFill>
          <a:blip r:embed="rId4"/>
          <a:srcRect/>
          <a:stretch/>
        </p:blipFill>
        <p:spPr>
          <a:xfrm>
            <a:off x="1665295" y="198078"/>
            <a:ext cx="879895" cy="879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E6830208-6590-12D9-B909-59070A652DBC}"/>
              </a:ext>
            </a:extLst>
          </p:cNvPr>
          <p:cNvSpPr txBox="1"/>
          <p:nvPr/>
        </p:nvSpPr>
        <p:spPr>
          <a:xfrm>
            <a:off x="2589035" y="356419"/>
            <a:ext cx="582886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PAPAYA OFF-CAMPUS</a:t>
            </a:r>
            <a:endParaRPr sz="4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80DF5DEE-FA08-9427-67BF-0867307F3A3C}"/>
              </a:ext>
            </a:extLst>
          </p:cNvPr>
          <p:cNvSpPr txBox="1"/>
          <p:nvPr/>
        </p:nvSpPr>
        <p:spPr>
          <a:xfrm>
            <a:off x="2617612" y="229936"/>
            <a:ext cx="55002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NUEVA ECIJA UNIVERSITY OF SCIENCE AND TECHNOLOGY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>
            <a:extLst>
              <a:ext uri="{FF2B5EF4-FFF2-40B4-BE49-F238E27FC236}">
                <a16:creationId xmlns:a16="http://schemas.microsoft.com/office/drawing/2014/main" id="{08379622-40CD-DBD8-9CA1-BF8D56CF9EFC}"/>
              </a:ext>
            </a:extLst>
          </p:cNvPr>
          <p:cNvSpPr/>
          <p:nvPr/>
        </p:nvSpPr>
        <p:spPr>
          <a:xfrm>
            <a:off x="34824" y="1545378"/>
            <a:ext cx="4140835" cy="522605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 dirty="0">
                <a:solidFill>
                  <a:schemeClr val="lt1"/>
                </a:solidFill>
              </a:rPr>
              <a:t>SCOPE </a:t>
            </a:r>
            <a:endParaRPr dirty="0"/>
          </a:p>
        </p:txBody>
      </p:sp>
      <p:sp>
        <p:nvSpPr>
          <p:cNvPr id="108" name="Google Shape;108;p5">
            <a:extLst>
              <a:ext uri="{FF2B5EF4-FFF2-40B4-BE49-F238E27FC236}">
                <a16:creationId xmlns:a16="http://schemas.microsoft.com/office/drawing/2014/main" id="{6A7FF0F5-E117-537C-DA14-8A218A448339}"/>
              </a:ext>
            </a:extLst>
          </p:cNvPr>
          <p:cNvSpPr txBox="1"/>
          <p:nvPr/>
        </p:nvSpPr>
        <p:spPr>
          <a:xfrm>
            <a:off x="0" y="2881138"/>
            <a:ext cx="11366161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Discrepancy Detection</a:t>
            </a:r>
          </a:p>
          <a:p>
            <a:r>
              <a:rPr lang="en-US" sz="2000" dirty="0"/>
              <a:t>  - Discrepancy identification</a:t>
            </a:r>
          </a:p>
          <a:p>
            <a:r>
              <a:rPr lang="en-US" sz="2000" dirty="0"/>
              <a:t>  - Revenue variance tracking</a:t>
            </a:r>
          </a:p>
          <a:p>
            <a:r>
              <a:rPr lang="en-US" sz="2000" dirty="0"/>
              <a:t>  - Audit trail generation</a:t>
            </a:r>
          </a:p>
        </p:txBody>
      </p:sp>
    </p:spTree>
    <p:extLst>
      <p:ext uri="{BB962C8B-B14F-4D97-AF65-F5344CB8AC3E}">
        <p14:creationId xmlns:p14="http://schemas.microsoft.com/office/powerpoint/2010/main" val="21779609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1092</Words>
  <Application>Microsoft Office PowerPoint</Application>
  <PresentationFormat>Widescreen</PresentationFormat>
  <Paragraphs>265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Nova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luolanfen(nancy)</dc:creator>
  <cp:lastModifiedBy>Aljhon Pangilinan</cp:lastModifiedBy>
  <cp:revision>30</cp:revision>
  <dcterms:created xsi:type="dcterms:W3CDTF">2021-09-16T14:54:00Z</dcterms:created>
  <dcterms:modified xsi:type="dcterms:W3CDTF">2026-05-10T13:01:20Z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9C3865FDD9F64B59B43CFB796608C3D5</vt:lpwstr>
  </property>
  <property fmtid="{D5CDD505-2E9C-101B-9397-08002B2CF9AE}" pid="3" name="KSOProductBuildVer">
    <vt:lpwstr>1033-11.2.0.11156</vt:lpwstr>
  </property>
</Properties>
</file>